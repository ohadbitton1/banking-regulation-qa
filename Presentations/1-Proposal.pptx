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2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66" r:id="rId2"/>
    <p:sldId id="265" r:id="rId3"/>
    <p:sldId id="264" r:id="rId4"/>
    <p:sldId id="259" r:id="rId5"/>
    <p:sldId id="267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Outfit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1227087"/>
            <a:ext cx="9001125" cy="291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 err="1">
                <a:solidFill>
                  <a:srgbClr val="60A5FA"/>
                </a:solidFill>
                <a:latin typeface="Outfit"/>
                <a:sym typeface="Outfit"/>
              </a:rPr>
              <a:t>Regul</a:t>
            </a:r>
            <a:r>
              <a:rPr lang="en-US" sz="6000" b="1" dirty="0" err="1">
                <a:solidFill>
                  <a:srgbClr val="FFC000"/>
                </a:solidFill>
                <a:latin typeface="Outfit"/>
                <a:sym typeface="Outfit"/>
              </a:rPr>
              <a:t>AI</a:t>
            </a:r>
            <a:r>
              <a:rPr lang="en-US" sz="6000" b="1" dirty="0" err="1">
                <a:solidFill>
                  <a:srgbClr val="60A5FA"/>
                </a:solidFill>
                <a:latin typeface="Outfit"/>
                <a:sym typeface="Outfit"/>
              </a:rPr>
              <a:t>tion</a:t>
            </a:r>
            <a:r>
              <a:rPr lang="en-US" sz="5400" b="1" dirty="0">
                <a:solidFill>
                  <a:srgbClr val="F8FAFC"/>
                </a:solidFill>
                <a:latin typeface="Outfit"/>
                <a:sym typeface="Outfit"/>
              </a:rPr>
              <a:t> 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8FAFC"/>
                </a:solidFill>
                <a:latin typeface="Outfit"/>
                <a:sym typeface="Outfit"/>
              </a:rPr>
              <a:t> </a:t>
            </a:r>
            <a:r>
              <a:rPr lang="en-US" sz="4400" b="1" dirty="0">
                <a:solidFill>
                  <a:srgbClr val="F8FAFC"/>
                </a:solidFill>
                <a:latin typeface="Outfit"/>
                <a:sym typeface="Outfit"/>
              </a:rPr>
              <a:t>An LLM-based model for banking regulation answers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458496" y="4495841"/>
            <a:ext cx="913806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Bridging Legal Text and Operational Decisions with Artificial Intelligence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90402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5200650" cy="101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Challenge: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 dirty="0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Regulatory Overload</a:t>
            </a:r>
            <a:endParaRPr dirty="0"/>
          </a:p>
        </p:txBody>
      </p:sp>
      <p:sp>
        <p:nvSpPr>
          <p:cNvPr id="94" name="Google Shape;94;p14"/>
          <p:cNvSpPr/>
          <p:nvPr/>
        </p:nvSpPr>
        <p:spPr>
          <a:xfrm>
            <a:off x="571500" y="1767780"/>
            <a:ext cx="4953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7735" y="2522309"/>
            <a:ext cx="594053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i="1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Reality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800" dirty="0">
                <a:solidFill>
                  <a:schemeClr val="bg1"/>
                </a:solidFill>
              </a:rPr>
              <a:t>Bank clerks navigate complex yet mandatory regulations that shape their daily operations.</a:t>
            </a:r>
            <a:endParaRPr lang="en-US" sz="1800" b="1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r>
              <a:rPr lang="en-US" sz="18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Regulations are contained in documents that are hard to access and interpret, making their reliable application difficult.</a:t>
            </a:r>
          </a:p>
          <a:p>
            <a:pPr>
              <a:buClr>
                <a:schemeClr val="bg1"/>
              </a:buClr>
            </a:pPr>
            <a:endParaRPr lang="en-US" sz="18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buClr>
                <a:schemeClr val="bg1"/>
              </a:buClr>
            </a:pPr>
            <a:endParaRPr lang="en-US" sz="18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Goal</a:t>
            </a:r>
            <a:r>
              <a:rPr lang="en-US" sz="18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/>
                </a:solidFill>
              </a:rPr>
              <a:t>Create a model that interprets rules and aligns them with available data for accurate regulation compliance.</a:t>
            </a: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2" name="Google Shape;95;p14">
            <a:extLst>
              <a:ext uri="{FF2B5EF4-FFF2-40B4-BE49-F238E27FC236}">
                <a16:creationId xmlns:a16="http://schemas.microsoft.com/office/drawing/2014/main" id="{34B0535D-CDFF-FEEF-EE7E-C4257DDF95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59504"/>
            <a:ext cx="6096000" cy="690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60165"/>
            <a:ext cx="5429250" cy="4821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0312" y="1560165"/>
            <a:ext cx="5476875" cy="482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Why It's Hard &amp; Current Solutions</a:t>
            </a:r>
            <a:endParaRPr dirty="0"/>
          </a:p>
        </p:txBody>
      </p:sp>
      <p:sp>
        <p:nvSpPr>
          <p:cNvPr id="107" name="Google Shape;107;p15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228725" y="1897409"/>
            <a:ext cx="45505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60A5FA"/>
                </a:solidFill>
                <a:latin typeface="Outfit"/>
                <a:ea typeface="Outfit"/>
                <a:cs typeface="Outfit"/>
                <a:sym typeface="Outfit"/>
              </a:rPr>
              <a:t>Core Challenges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7017306" y="1835267"/>
            <a:ext cx="4510563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60A5FA"/>
                </a:solidFill>
                <a:latin typeface="Outfit"/>
                <a:sym typeface="Outfit"/>
              </a:rPr>
              <a:t>Existing Approaches</a:t>
            </a:r>
            <a:endParaRPr dirty="0"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1065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14350" y="2386905"/>
            <a:ext cx="539115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Fragmentation: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Regulations scattered across multiple authorities.</a:t>
            </a:r>
            <a:endParaRPr lang="en-US" sz="1800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Complexity: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Ambiguous definitions and dense legal jargon.</a:t>
            </a:r>
            <a:endParaRPr lang="en-US" sz="1800" dirty="0">
              <a:ea typeface="Inter"/>
              <a:cs typeface="Inter"/>
            </a:endParaRPr>
          </a:p>
          <a:p>
            <a:pPr>
              <a:buClr>
                <a:srgbClr val="FFC000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>
              <a:buClr>
                <a:srgbClr val="FFC000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Explainability: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AI must tie every decision to a specific clause.</a:t>
            </a:r>
            <a:endParaRPr lang="en-US" sz="1800"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9631" y="1879583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357937" y="2386905"/>
            <a:ext cx="542925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Work: 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Officers interpret docs and update guidelines by hand.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Old Tools: 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Reliance on static spreadsheets and Word docs.</a:t>
            </a:r>
            <a:endParaRPr lang="en-US" sz="1800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US" sz="18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dirty="0"/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Rigid Engines: 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Rule-based systems (e.g., Drools) require manual translation.</a:t>
            </a:r>
            <a:endParaRPr lang="en-US" sz="18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dirty="0"/>
          </a:p>
        </p:txBody>
      </p:sp>
      <p:pic>
        <p:nvPicPr>
          <p:cNvPr id="4" name="Picture 3" descr="Drools_logo">
            <a:extLst>
              <a:ext uri="{FF2B5EF4-FFF2-40B4-BE49-F238E27FC236}">
                <a16:creationId xmlns:a16="http://schemas.microsoft.com/office/drawing/2014/main" id="{517F9438-85B0-3A5E-2A6B-7BE53EABD0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7306" y="5392940"/>
            <a:ext cx="1506976" cy="843906"/>
          </a:xfrm>
          <a:prstGeom prst="rect">
            <a:avLst/>
          </a:prstGeom>
        </p:spPr>
      </p:pic>
      <p:pic>
        <p:nvPicPr>
          <p:cNvPr id="6" name="Picture 5" descr="A blue and orange text&#10;&#10;AI-generated content may be incorrect.">
            <a:extLst>
              <a:ext uri="{FF2B5EF4-FFF2-40B4-BE49-F238E27FC236}">
                <a16:creationId xmlns:a16="http://schemas.microsoft.com/office/drawing/2014/main" id="{1040316B-10BB-4DED-D7FA-3DFF7294DF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0800" y="5392940"/>
            <a:ext cx="918840" cy="843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61133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Project Vision &amp; Novelty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667250" y="1888202"/>
            <a:ext cx="7400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The Solution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4667250" y="2261463"/>
            <a:ext cx="70485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An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LLM based model that delivers accurate, source-grounded answers to banking-regulation questions by retrieving and analyzing real regulatory documents.</a:t>
            </a:r>
          </a:p>
        </p:txBody>
      </p:sp>
      <p:sp>
        <p:nvSpPr>
          <p:cNvPr id="139" name="Google Shape;139;p16"/>
          <p:cNvSpPr txBox="1"/>
          <p:nvPr/>
        </p:nvSpPr>
        <p:spPr>
          <a:xfrm>
            <a:off x="4667250" y="3833723"/>
            <a:ext cx="7400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Key Novelty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4667250" y="4308584"/>
            <a:ext cx="7048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</a:rPr>
              <a:t>Combines all rules into one place</a:t>
            </a:r>
            <a:endParaRPr lang="en-US" sz="2000" dirty="0">
              <a:solidFill>
                <a:srgbClr val="CBD5E1"/>
              </a:solidFill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4667250" y="4759434"/>
            <a:ext cx="7048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</a:rPr>
              <a:t>Understands the real meaning of the rules</a:t>
            </a:r>
            <a:endParaRPr lang="en-US" sz="2000" dirty="0">
              <a:solidFill>
                <a:srgbClr val="CBD5E1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4667250" y="5210284"/>
            <a:ext cx="7048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</a:rPr>
              <a:t>Gives clear, easy-to-explain answers</a:t>
            </a:r>
            <a:r>
              <a:rPr lang="en-US" sz="1800" dirty="0"/>
              <a:t>.</a:t>
            </a:r>
            <a:endParaRPr lang="en-US" sz="2000" dirty="0"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445717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490802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535887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 descr="תמונה שמכילה קל, לייזר, 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C182F23-3FB8-06EC-1653-1B0C861335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112" r="21373"/>
          <a:stretch>
            <a:fillRect/>
          </a:stretch>
        </p:blipFill>
        <p:spPr>
          <a:xfrm>
            <a:off x="531287" y="2223362"/>
            <a:ext cx="3509426" cy="3511313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60165"/>
            <a:ext cx="5429250" cy="4821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560165"/>
            <a:ext cx="5429250" cy="482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System Specifications &amp; Technology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228725" y="1903065"/>
            <a:ext cx="45505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Outfit"/>
                <a:ea typeface="Outfit"/>
                <a:cs typeface="Outfit"/>
                <a:sym typeface="Outfit"/>
              </a:rPr>
              <a:t>Inputs &amp; Outputs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038975" y="1903065"/>
            <a:ext cx="45505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Outfit"/>
                <a:ea typeface="Outfit"/>
                <a:cs typeface="Outfit"/>
                <a:sym typeface="Outfit"/>
              </a:rPr>
              <a:t>Models &amp; Techniques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1631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057275" y="2386905"/>
            <a:ext cx="4505325" cy="126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free-form natural language query regarding banking regulatory questions.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Database regarding regulatory documents.</a:t>
            </a:r>
            <a:endParaRPr lang="he-I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057275" y="3983206"/>
            <a:ext cx="45053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Outputs:</a:t>
            </a:r>
            <a:endParaRPr dirty="0"/>
          </a:p>
        </p:txBody>
      </p:sp>
      <p:sp>
        <p:nvSpPr>
          <p:cNvPr id="160" name="Google Shape;160;p17"/>
          <p:cNvSpPr/>
          <p:nvPr/>
        </p:nvSpPr>
        <p:spPr>
          <a:xfrm>
            <a:off x="819150" y="3896211"/>
            <a:ext cx="47434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057275" y="4381321"/>
            <a:ext cx="365696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Yes or no answer.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1057275" y="4769911"/>
            <a:ext cx="45053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Grounded natural-language answer.</a:t>
            </a:r>
            <a:endParaRPr lang="en-US" sz="1200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1057275" y="5158501"/>
            <a:ext cx="45053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Precise Source References (Context).</a:t>
            </a:r>
            <a:endParaRPr lang="en-US" sz="1200" dirty="0"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91631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19150" y="257994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819150" y="333296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819150" y="438132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19150" y="476991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19150" y="515850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6629400" y="224466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6629400" y="289865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6629400" y="372536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6629400" y="459271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4" name="Google Shape;173;p17">
            <a:extLst>
              <a:ext uri="{FF2B5EF4-FFF2-40B4-BE49-F238E27FC236}">
                <a16:creationId xmlns:a16="http://schemas.microsoft.com/office/drawing/2014/main" id="{336EB625-17AD-A7E9-FE73-BBDA8E72CC82}"/>
              </a:ext>
            </a:extLst>
          </p:cNvPr>
          <p:cNvSpPr txBox="1"/>
          <p:nvPr/>
        </p:nvSpPr>
        <p:spPr>
          <a:xfrm>
            <a:off x="813620" y="5543879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5" name="Google Shape;163;p17">
            <a:extLst>
              <a:ext uri="{FF2B5EF4-FFF2-40B4-BE49-F238E27FC236}">
                <a16:creationId xmlns:a16="http://schemas.microsoft.com/office/drawing/2014/main" id="{DC003798-A343-EF73-BD15-24387A9788B2}"/>
              </a:ext>
            </a:extLst>
          </p:cNvPr>
          <p:cNvSpPr txBox="1"/>
          <p:nvPr/>
        </p:nvSpPr>
        <p:spPr>
          <a:xfrm>
            <a:off x="1057274" y="5539501"/>
            <a:ext cx="45053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Confidence Score.</a:t>
            </a:r>
            <a:endParaRPr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87D4846-0677-958A-0607-CCEC4FE437A7}"/>
              </a:ext>
            </a:extLst>
          </p:cNvPr>
          <p:cNvSpPr txBox="1"/>
          <p:nvPr/>
        </p:nvSpPr>
        <p:spPr>
          <a:xfrm>
            <a:off x="6800215" y="2269280"/>
            <a:ext cx="440182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Document Parsing,</a:t>
            </a: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Extracting clean text from PDFs and HTML files. </a:t>
            </a:r>
          </a:p>
          <a:p>
            <a:pPr fontAlgn="base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Embedding Generation</a:t>
            </a: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Turning text into numerical vectors the model can search and compare.</a:t>
            </a:r>
          </a:p>
          <a:p>
            <a:pPr fontAlgn="base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Synthetic Q&amp;A Creation</a:t>
            </a: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Using a model to generate training examples from the documents.</a:t>
            </a:r>
          </a:p>
          <a:p>
            <a:pPr fontAlgn="base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Validation</a:t>
            </a: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Cleaning the dataset and splitting it into train/test sets.</a:t>
            </a:r>
          </a:p>
          <a:p>
            <a:pPr fontAlgn="base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Fine-Tuning &amp; Retrieval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Training the model on the Q&amp;A and using vector search to find relevant text for each question</a:t>
            </a:r>
            <a:endParaRPr lang="he-I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Google Shape;177;p17">
            <a:extLst>
              <a:ext uri="{FF2B5EF4-FFF2-40B4-BE49-F238E27FC236}">
                <a16:creationId xmlns:a16="http://schemas.microsoft.com/office/drawing/2014/main" id="{AFF630B1-BDC2-BCA8-EBB1-654849231729}"/>
              </a:ext>
            </a:extLst>
          </p:cNvPr>
          <p:cNvSpPr txBox="1"/>
          <p:nvPr/>
        </p:nvSpPr>
        <p:spPr>
          <a:xfrm>
            <a:off x="6639560" y="545631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560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3569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577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61585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65593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Technical Pipeline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857250" y="4189958"/>
            <a:ext cx="10477500" cy="3810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425674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Collection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476250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Ingest &amp; Parse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PDF/HTML cleaning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(No ML)</a:t>
            </a:r>
            <a:endParaRPr dirty="0"/>
          </a:p>
        </p:txBody>
      </p:sp>
      <p:sp>
        <p:nvSpPr>
          <p:cNvPr id="197" name="Google Shape;197;p18"/>
          <p:cNvSpPr txBox="1"/>
          <p:nvPr/>
        </p:nvSpPr>
        <p:spPr>
          <a:xfrm>
            <a:off x="2729682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Synthesis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2780258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Synthetic Q&amp;A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Teacher LLM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create dataset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5033690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Validation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5084266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Cleaning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Validation Split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(Train/Test)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337699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Training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388274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Fine-tune LLM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Vector Search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Retriever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641707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Evaluation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692282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Metrics Protocol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Baseline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Comparison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27758"/>
            <a:ext cx="53816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Specification &amp; Generation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476250" y="2126555"/>
            <a:ext cx="5650706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Synthetic Data Pipeline</a:t>
            </a:r>
            <a:endParaRPr sz="1800" dirty="0"/>
          </a:p>
        </p:txBody>
      </p:sp>
      <p:sp>
        <p:nvSpPr>
          <p:cNvPr id="215" name="Google Shape;215;p19"/>
          <p:cNvSpPr txBox="1"/>
          <p:nvPr/>
        </p:nvSpPr>
        <p:spPr>
          <a:xfrm>
            <a:off x="857250" y="2563862"/>
            <a:ext cx="5000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Public regulatory texts (Basel, AML/KYC) split into chunks.</a:t>
            </a:r>
            <a:endParaRPr sz="1800" dirty="0"/>
          </a:p>
        </p:txBody>
      </p:sp>
      <p:sp>
        <p:nvSpPr>
          <p:cNvPr id="216" name="Google Shape;216;p19"/>
          <p:cNvSpPr txBox="1"/>
          <p:nvPr/>
        </p:nvSpPr>
        <p:spPr>
          <a:xfrm>
            <a:off x="857250" y="3638282"/>
            <a:ext cx="50006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Generation: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Large LLM acts as a "Teacher," reading chunks and generating Q&amp;A pairs.</a:t>
            </a:r>
            <a:endParaRPr sz="1800"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857250" y="5129262"/>
            <a:ext cx="5000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Labeling: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output includes the Question, the Answer, and precise </a:t>
            </a: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Citation IDs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69276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75702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526832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5;p18">
            <a:extLst>
              <a:ext uri="{FF2B5EF4-FFF2-40B4-BE49-F238E27FC236}">
                <a16:creationId xmlns:a16="http://schemas.microsoft.com/office/drawing/2014/main" id="{0CDC88FC-3759-1A92-F36B-0A8E3CE851D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43957" y="1838080"/>
            <a:ext cx="536257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68909"/>
            <a:ext cx="3555950" cy="300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468909"/>
            <a:ext cx="3555950" cy="300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468909"/>
            <a:ext cx="3555950" cy="30040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Metrics &amp; KPIs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370939" y="3583334"/>
            <a:ext cx="3133672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Confidence Score</a:t>
            </a:r>
            <a:endParaRPr dirty="0"/>
          </a:p>
        </p:txBody>
      </p:sp>
      <p:sp>
        <p:nvSpPr>
          <p:cNvPr id="234" name="Google Shape;234;p20"/>
          <p:cNvSpPr txBox="1"/>
          <p:nvPr/>
        </p:nvSpPr>
        <p:spPr>
          <a:xfrm>
            <a:off x="8445550" y="4149029"/>
            <a:ext cx="29844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shows how sure the model is, it works by measuring how similar the model’s answer is to the retrieved text.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35" name="Google Shape;23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971800"/>
            <a:ext cx="29844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687389" y="3636663"/>
            <a:ext cx="3133672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Answer Accuracy</a:t>
            </a:r>
            <a:endParaRPr dirty="0"/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4149030"/>
            <a:ext cx="29844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checks if the model’s yes/no answer is correct; it works by matching the answer to the expected result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38" name="Google Shape;23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71800"/>
            <a:ext cx="29844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4529089" y="3583334"/>
            <a:ext cx="313367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Citation Accuracy</a:t>
            </a:r>
            <a:endParaRPr dirty="0"/>
          </a:p>
        </p:txBody>
      </p:sp>
      <p:sp>
        <p:nvSpPr>
          <p:cNvPr id="240" name="Google Shape;240;p20"/>
          <p:cNvSpPr txBox="1"/>
          <p:nvPr/>
        </p:nvSpPr>
        <p:spPr>
          <a:xfrm>
            <a:off x="4454478" y="4149028"/>
            <a:ext cx="333824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checks if the model used the right part of the regulation; it works by comparing the section the model cited to the correct one. </a:t>
            </a:r>
            <a:br>
              <a:rPr lang="en-US" sz="1200" dirty="0">
                <a:solidFill>
                  <a:schemeClr val="bg1">
                    <a:lumMod val="85000"/>
                  </a:schemeClr>
                </a:solidFill>
              </a:rPr>
            </a:b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תמונה 4" descr="תמונה שמכילה פסל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D9A6161-3B02-BEAB-7D64-CB0549C6E9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0980" y="2971799"/>
            <a:ext cx="413289" cy="457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551</Words>
  <Application>Microsoft Office PowerPoint</Application>
  <PresentationFormat>Widescreen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Wingdings</vt:lpstr>
      <vt:lpstr>Inter</vt:lpstr>
      <vt:lpstr>Calibri</vt:lpstr>
      <vt:lpstr>Outfit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yossi okro</dc:creator>
  <cp:lastModifiedBy>Michael Naftalishen</cp:lastModifiedBy>
  <cp:revision>7</cp:revision>
  <dcterms:modified xsi:type="dcterms:W3CDTF">2025-12-21T16:43:33Z</dcterms:modified>
</cp:coreProperties>
</file>