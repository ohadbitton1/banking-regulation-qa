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8" r:id="rId3"/>
    <p:sldId id="269" r:id="rId4"/>
    <p:sldId id="271" r:id="rId5"/>
    <p:sldId id="272" r:id="rId6"/>
    <p:sldId id="267" r:id="rId7"/>
    <p:sldId id="270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64E65-FE31-4644-8823-DAFD86DB174A}">
  <a:tblStyle styleId="{4ED64E65-FE31-4644-8823-DAFD86DB17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5E52ED-B292-98A3-9EF7-091FF918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042BFBBD-7FD2-C1DA-F26A-C284F515A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BD53C8A-DA3A-5CBD-EA87-F6A38CE90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212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3D3E236F-4684-16ED-2A7C-DB8AC362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8AEBF301-E57D-DBA3-3007-EEECD1612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9B0A1CD8-A3B2-CB96-5861-782338FF9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4520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5E52ED-B292-98A3-9EF7-091FF918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042BFBBD-7FD2-C1DA-F26A-C284F515A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BD53C8A-DA3A-5CBD-EA87-F6A38CE90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2124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D7718B6B-D2A3-C9BB-BEE6-0877CBA98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60BB2E9C-13AC-17C9-A3A7-6C17D0A58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DCD620B0-45A1-E54A-F259-75C0D8AB4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1075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084205C-3E22-B54C-96B3-DF28C8D8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050EB1E-2A3B-64B4-591B-EF52066A0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1B75D58-FB54-3ECE-8EA5-3F2A10B56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3759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FAD83F17-DCFD-6745-448E-1259A404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128B49B5-4DC8-B1CD-B002-2E023B1AF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0C423171-0A09-B9DB-FA4C-BCDFF075D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450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485055" y="247959"/>
            <a:ext cx="40930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REGUL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LTION </a:t>
            </a: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4536C468-5595-7F0C-4820-E3E19813D8EE}"/>
              </a:ext>
            </a:extLst>
          </p:cNvPr>
          <p:cNvSpPr/>
          <p:nvPr/>
        </p:nvSpPr>
        <p:spPr>
          <a:xfrm>
            <a:off x="378810" y="247959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56F59E24-476E-7785-2CA4-E4EC7A3775F7}"/>
              </a:ext>
            </a:extLst>
          </p:cNvPr>
          <p:cNvSpPr txBox="1"/>
          <p:nvPr/>
        </p:nvSpPr>
        <p:spPr>
          <a:xfrm>
            <a:off x="533128" y="4225021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The Data: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79432676-2805-7CDF-1089-C447F2B5AD14}"/>
              </a:ext>
            </a:extLst>
          </p:cNvPr>
          <p:cNvSpPr txBox="1"/>
          <p:nvPr/>
        </p:nvSpPr>
        <p:spPr>
          <a:xfrm>
            <a:off x="533128" y="4710514"/>
            <a:ext cx="6923221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Official Bank of Israel banking &amp; financial regulations.</a:t>
            </a: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Synthetic Q&amp;A generation to ensure coverage and consistency.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Questions designed to test precision, grounding, and edge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cases.</a:t>
            </a:r>
          </a:p>
          <a:p>
            <a:pPr lvl="0">
              <a:lnSpc>
                <a:spcPct val="150000"/>
              </a:lnSpc>
            </a:pP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786C2DD1-53B4-41AD-E94E-933E921FE532}"/>
              </a:ext>
            </a:extLst>
          </p:cNvPr>
          <p:cNvSpPr txBox="1"/>
          <p:nvPr/>
        </p:nvSpPr>
        <p:spPr>
          <a:xfrm>
            <a:off x="533128" y="923308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PROJECT: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3128" y="1524719"/>
            <a:ext cx="6716336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Regulatory texts are lengthy, highly technical, and require </a:t>
            </a:r>
            <a:r>
              <a:rPr lang="en-US" sz="1800" dirty="0">
                <a:solidFill>
                  <a:srgbClr val="FFC000"/>
                </a:solidFill>
              </a:rPr>
              <a:t>strict factual accuracy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. General-purpose LLMs often </a:t>
            </a:r>
            <a:r>
              <a:rPr lang="en-US" sz="1800" dirty="0">
                <a:solidFill>
                  <a:srgbClr val="FFC000"/>
                </a:solidFill>
              </a:rPr>
              <a:t>hallucinate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and fail to capture legal nuance, making them unreliable for regulatory reasoning.</a:t>
            </a:r>
          </a:p>
          <a:p>
            <a:pPr>
              <a:buClr>
                <a:srgbClr val="FFC000"/>
              </a:buClr>
            </a:pPr>
            <a:endParaRPr lang="en-US" sz="1800" b="1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FC000"/>
              </a:buClr>
            </a:pPr>
            <a:r>
              <a:rPr lang="en-US" sz="1800" b="1" dirty="0">
                <a:solidFill>
                  <a:srgbClr val="FFC000"/>
                </a:solidFill>
              </a:rPr>
              <a:t>Goal: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accurate, grounded Q&amp;A over banking regulations.</a:t>
            </a: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FC000"/>
              </a:buClr>
            </a:pPr>
            <a:r>
              <a:rPr lang="en-US" sz="1800" b="1" dirty="0">
                <a:solidFill>
                  <a:srgbClr val="FFC000"/>
                </a:solidFill>
              </a:rPr>
              <a:t>Solution: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Domain-aware RAG + FT models.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E157F3-E577-BA35-C424-D6DDAA01BC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rcRect l="54628" r="1750"/>
          <a:stretch>
            <a:fillRect/>
          </a:stretch>
        </p:blipFill>
        <p:spPr>
          <a:xfrm>
            <a:off x="7456348" y="-5210"/>
            <a:ext cx="4735652" cy="6863210"/>
          </a:xfrm>
          <a:prstGeom prst="rect">
            <a:avLst/>
          </a:prstGeom>
          <a:effectLst>
            <a:softEdge rad="254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0A7CC1C-86D4-C571-70FC-ECE64402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80333E22-D108-DA02-6229-75A082A79E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6985ACC8-CA36-4C65-BFC8-104AA7A4FA09}"/>
              </a:ext>
            </a:extLst>
          </p:cNvPr>
          <p:cNvSpPr txBox="1"/>
          <p:nvPr/>
        </p:nvSpPr>
        <p:spPr>
          <a:xfrm>
            <a:off x="459840" y="265124"/>
            <a:ext cx="410410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MODELS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&amp;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METRICS</a:t>
            </a: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58467C1D-E2DA-4082-8BBA-6B8FDA36AC41}"/>
              </a:ext>
            </a:extLst>
          </p:cNvPr>
          <p:cNvSpPr txBox="1"/>
          <p:nvPr/>
        </p:nvSpPr>
        <p:spPr>
          <a:xfrm>
            <a:off x="1065476" y="1232165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Models Evaluated: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A281F43E-3EB0-604B-3A70-1D2F97D27837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F5C197BB-24F6-1834-66BC-DF3077F15B3E}"/>
              </a:ext>
            </a:extLst>
          </p:cNvPr>
          <p:cNvSpPr txBox="1"/>
          <p:nvPr/>
        </p:nvSpPr>
        <p:spPr>
          <a:xfrm>
            <a:off x="362845" y="1663051"/>
            <a:ext cx="562275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nn-NO" sz="1800" b="1" dirty="0">
                <a:solidFill>
                  <a:schemeClr val="bg1">
                    <a:lumMod val="95000"/>
                  </a:schemeClr>
                </a:solidFill>
              </a:rPr>
              <a:t>Llama + MiniLM</a:t>
            </a:r>
            <a:r>
              <a:rPr lang="nn-NO" sz="1800" dirty="0">
                <a:solidFill>
                  <a:schemeClr val="bg1">
                    <a:lumMod val="95000"/>
                  </a:schemeClr>
                </a:solidFill>
              </a:rPr>
              <a:t> – strong general baseline.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Llama + LegalBERT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– domain-aware embeddings.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SaulLM + MiniLM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– legal LLM with generic retrieval.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SaulLM + LegalBERT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– full legal-domain stack.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FA5042DF-51D5-FD9D-2924-3F16581902D0}"/>
              </a:ext>
            </a:extLst>
          </p:cNvPr>
          <p:cNvSpPr/>
          <p:nvPr/>
        </p:nvSpPr>
        <p:spPr>
          <a:xfrm flipH="1">
            <a:off x="6199179" y="1376320"/>
            <a:ext cx="45719" cy="4380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8;p13">
            <a:extLst>
              <a:ext uri="{FF2B5EF4-FFF2-40B4-BE49-F238E27FC236}">
                <a16:creationId xmlns:a16="http://schemas.microsoft.com/office/drawing/2014/main" id="{C00D98A9-9883-205B-BF67-70AA995EE71F}"/>
              </a:ext>
            </a:extLst>
          </p:cNvPr>
          <p:cNvSpPr txBox="1"/>
          <p:nvPr/>
        </p:nvSpPr>
        <p:spPr>
          <a:xfrm>
            <a:off x="7109151" y="1232165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Metrics Used:</a:t>
            </a:r>
          </a:p>
        </p:txBody>
      </p:sp>
      <p:sp>
        <p:nvSpPr>
          <p:cNvPr id="20" name="Google Shape;88;p13">
            <a:extLst>
              <a:ext uri="{FF2B5EF4-FFF2-40B4-BE49-F238E27FC236}">
                <a16:creationId xmlns:a16="http://schemas.microsoft.com/office/drawing/2014/main" id="{04A72EA5-0432-AFF5-A165-246441A632E6}"/>
              </a:ext>
            </a:extLst>
          </p:cNvPr>
          <p:cNvSpPr txBox="1"/>
          <p:nvPr/>
        </p:nvSpPr>
        <p:spPr>
          <a:xfrm>
            <a:off x="6454516" y="1663051"/>
            <a:ext cx="562275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Verdict Accuracy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– correct regulatory conclusion.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Hit@K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– relevant source retrieved in top-K.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Citation Accuracy -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verifies that the model’s answer is correctly supported by the cited regulatory source.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Hallucination Rate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– unsupported or fabricated claims.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F1715D-AC90-6715-6822-1A5CD07E4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429" y="4231511"/>
            <a:ext cx="3425555" cy="1926875"/>
          </a:xfrm>
          <a:prstGeom prst="rect">
            <a:avLst/>
          </a:prstGeom>
        </p:spPr>
      </p:pic>
      <p:pic>
        <p:nvPicPr>
          <p:cNvPr id="26" name="Graphic 25" descr="Bullseye with solid fill">
            <a:extLst>
              <a:ext uri="{FF2B5EF4-FFF2-40B4-BE49-F238E27FC236}">
                <a16:creationId xmlns:a16="http://schemas.microsoft.com/office/drawing/2014/main" id="{220E0D56-989B-B2E0-6C39-84BBD02797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437" y="1176088"/>
            <a:ext cx="539905" cy="539905"/>
          </a:xfrm>
          <a:prstGeom prst="rect">
            <a:avLst/>
          </a:prstGeom>
        </p:spPr>
      </p:pic>
      <p:pic>
        <p:nvPicPr>
          <p:cNvPr id="23" name="Graphic 22" descr="Remote learning language with solid fill">
            <a:extLst>
              <a:ext uri="{FF2B5EF4-FFF2-40B4-BE49-F238E27FC236}">
                <a16:creationId xmlns:a16="http://schemas.microsoft.com/office/drawing/2014/main" id="{110DA3DB-FA67-9244-5765-FC21F0DCB2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845" y="1152333"/>
            <a:ext cx="587416" cy="58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9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9E39459F-7C10-3BB3-8045-BCB7B4D1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10C7B529-3227-4B4D-B99F-6C7239C4D6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2E328B64-B46F-3B73-99A3-CEB459822ADD}"/>
              </a:ext>
            </a:extLst>
          </p:cNvPr>
          <p:cNvSpPr txBox="1"/>
          <p:nvPr/>
        </p:nvSpPr>
        <p:spPr>
          <a:xfrm>
            <a:off x="492822" y="270246"/>
            <a:ext cx="590215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</a:rPr>
              <a:t>NOVELTY </a:t>
            </a:r>
            <a:r>
              <a:rPr lang="en-US" sz="3300" b="1" dirty="0">
                <a:solidFill>
                  <a:srgbClr val="FFC000"/>
                </a:solidFill>
              </a:rPr>
              <a:t>&amp;</a:t>
            </a:r>
            <a:r>
              <a:rPr lang="en-US" sz="3300" b="1" dirty="0">
                <a:solidFill>
                  <a:schemeClr val="bg1"/>
                </a:solidFill>
              </a:rPr>
              <a:t> ACHIEVEMENTS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C18BC9F1-125A-C791-C5E1-D8BBC34978A5}"/>
              </a:ext>
            </a:extLst>
          </p:cNvPr>
          <p:cNvSpPr txBox="1"/>
          <p:nvPr/>
        </p:nvSpPr>
        <p:spPr>
          <a:xfrm>
            <a:off x="7027100" y="1230811"/>
            <a:ext cx="39145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Project Achievements</a:t>
            </a:r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138644A3-6346-9079-D737-0404C26A7C58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2A627BBE-2443-6D5E-4B29-FA3CC343836F}"/>
              </a:ext>
            </a:extLst>
          </p:cNvPr>
          <p:cNvSpPr txBox="1"/>
          <p:nvPr/>
        </p:nvSpPr>
        <p:spPr>
          <a:xfrm>
            <a:off x="6562360" y="1661697"/>
            <a:ext cx="5166513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Built a full end-to-end RAG system for regulatory question answering.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Benchmarked general vs legal LLMs and embeddings under identical conditions.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Designed a quantitative evaluation framework beyond generic accuracy.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Improved answer grounding and source alignment in regulatory Q&amp;A.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" name="Google Shape;88;p13">
            <a:extLst>
              <a:ext uri="{FF2B5EF4-FFF2-40B4-BE49-F238E27FC236}">
                <a16:creationId xmlns:a16="http://schemas.microsoft.com/office/drawing/2014/main" id="{15FA4A97-1A9D-3562-E268-E56177AF29AA}"/>
              </a:ext>
            </a:extLst>
          </p:cNvPr>
          <p:cNvSpPr txBox="1"/>
          <p:nvPr/>
        </p:nvSpPr>
        <p:spPr>
          <a:xfrm>
            <a:off x="840612" y="1230811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Project Novelty</a:t>
            </a:r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</a:p>
        </p:txBody>
      </p:sp>
      <p:sp>
        <p:nvSpPr>
          <p:cNvPr id="20" name="Google Shape;88;p13">
            <a:extLst>
              <a:ext uri="{FF2B5EF4-FFF2-40B4-BE49-F238E27FC236}">
                <a16:creationId xmlns:a16="http://schemas.microsoft.com/office/drawing/2014/main" id="{61092D88-9540-C106-22B3-FE0F4C7F4759}"/>
              </a:ext>
            </a:extLst>
          </p:cNvPr>
          <p:cNvSpPr txBox="1"/>
          <p:nvPr/>
        </p:nvSpPr>
        <p:spPr>
          <a:xfrm>
            <a:off x="463127" y="1661697"/>
            <a:ext cx="562275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Systematic comparison of legal vs general model stacks in a regulatory RAG setting.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Introduced citation-level evaluation for regulatory correctness.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Combined synthetic legal Q&amp;A generation with real regulatory texts.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Focused on trustworthiness, not just language fluency.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" name="Graphic 2" descr="Checkbox Checked with solid fill">
            <a:extLst>
              <a:ext uri="{FF2B5EF4-FFF2-40B4-BE49-F238E27FC236}">
                <a16:creationId xmlns:a16="http://schemas.microsoft.com/office/drawing/2014/main" id="{587DFB24-86DB-C360-4513-98EF6B6B6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24" y="1093665"/>
            <a:ext cx="705176" cy="705176"/>
          </a:xfrm>
          <a:prstGeom prst="rect">
            <a:avLst/>
          </a:prstGeom>
        </p:spPr>
      </p:pic>
      <p:pic>
        <p:nvPicPr>
          <p:cNvPr id="13" name="Graphic 12" descr="Medal with solid fill">
            <a:extLst>
              <a:ext uri="{FF2B5EF4-FFF2-40B4-BE49-F238E27FC236}">
                <a16:creationId xmlns:a16="http://schemas.microsoft.com/office/drawing/2014/main" id="{207E7972-F46C-D604-A86C-88EA704AB2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348" y="1188844"/>
            <a:ext cx="514818" cy="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0A7CC1C-86D4-C571-70FC-ECE64402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80333E22-D108-DA02-6229-75A082A79E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6985ACC8-CA36-4C65-BFC8-104AA7A4FA09}"/>
              </a:ext>
            </a:extLst>
          </p:cNvPr>
          <p:cNvSpPr txBox="1"/>
          <p:nvPr/>
        </p:nvSpPr>
        <p:spPr>
          <a:xfrm>
            <a:off x="472494" y="255977"/>
            <a:ext cx="342252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58467C1D-E2DA-4082-8BBA-6B8FDA36AC41}"/>
              </a:ext>
            </a:extLst>
          </p:cNvPr>
          <p:cNvSpPr txBox="1"/>
          <p:nvPr/>
        </p:nvSpPr>
        <p:spPr>
          <a:xfrm>
            <a:off x="472494" y="1019785"/>
            <a:ext cx="353217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Part 1</a:t>
            </a:r>
          </a:p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Fine Tuning: 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A281F43E-3EB0-604B-3A70-1D2F97D27837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F5C197BB-24F6-1834-66BC-DF3077F15B3E}"/>
              </a:ext>
            </a:extLst>
          </p:cNvPr>
          <p:cNvSpPr txBox="1"/>
          <p:nvPr/>
        </p:nvSpPr>
        <p:spPr>
          <a:xfrm>
            <a:off x="472494" y="1812595"/>
            <a:ext cx="5576338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Updating the model itself to optimize it for the task.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"/>
              <a:ea typeface="Inter"/>
              <a:sym typeface="Inter"/>
            </a:endParaRPr>
          </a:p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Domain Specialization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:-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Enhanced the model’s regulatory expertise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Robustness to Negatives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-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Trained the model on hard and soft negative samples to improve its ability to identify irrelevant information and avoid false positives.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Structured Output Optimization: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Fine-tuned the model to ensure consistent and valid JSON formatting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FA5042DF-51D5-FD9D-2924-3F16581902D0}"/>
              </a:ext>
            </a:extLst>
          </p:cNvPr>
          <p:cNvSpPr/>
          <p:nvPr/>
        </p:nvSpPr>
        <p:spPr>
          <a:xfrm>
            <a:off x="6142397" y="1972347"/>
            <a:ext cx="45719" cy="36698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52C44AC7-0284-96D8-76F7-12ECF0F81AA6}"/>
              </a:ext>
            </a:extLst>
          </p:cNvPr>
          <p:cNvSpPr txBox="1"/>
          <p:nvPr/>
        </p:nvSpPr>
        <p:spPr>
          <a:xfrm>
            <a:off x="6460578" y="1798773"/>
            <a:ext cx="562275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Model Selection: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Evaluated and compared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Llama 3.1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Saul-7B (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pre-trained on the legal domain).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Dataset Construction: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Compiled a dataset of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2,000+ examples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, including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15-20% negative samples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to enhance robustness and prevent hallucinations.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FT KPI’S:</a:t>
            </a:r>
            <a:endParaRPr lang="en-US" sz="1800" dirty="0">
              <a:solidFill>
                <a:srgbClr val="F2F2F2"/>
              </a:solidFill>
            </a:endParaRPr>
          </a:p>
        </p:txBody>
      </p:sp>
      <p:pic>
        <p:nvPicPr>
          <p:cNvPr id="3" name="תמונה 2" descr="תמונה שמכילה טקסט, צילום מסך, גופן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C6263CF-DBA7-C934-6D39-C37C9EB1A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902" y="4771969"/>
            <a:ext cx="5085918" cy="140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7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B7E45490-93F0-3B6A-F740-B4ED1EBF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D5DC8BDF-6C09-9ADD-D774-BFB7D8F23E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39A379A4-BEF5-E2BF-980E-C86AF2F1D277}"/>
              </a:ext>
            </a:extLst>
          </p:cNvPr>
          <p:cNvSpPr txBox="1"/>
          <p:nvPr/>
        </p:nvSpPr>
        <p:spPr>
          <a:xfrm>
            <a:off x="468274" y="250911"/>
            <a:ext cx="346356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lang="en-US" sz="3300" b="1" i="0" u="none" strike="noStrike" cap="none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06643459-4822-66DD-8F33-2228FF27E3C6}"/>
              </a:ext>
            </a:extLst>
          </p:cNvPr>
          <p:cNvSpPr txBox="1"/>
          <p:nvPr/>
        </p:nvSpPr>
        <p:spPr>
          <a:xfrm>
            <a:off x="473245" y="1009653"/>
            <a:ext cx="303700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Part 2 </a:t>
            </a:r>
          </a:p>
          <a:p>
            <a:r>
              <a:rPr lang="en-US" sz="2800" b="1" dirty="0">
                <a:solidFill>
                  <a:srgbClr val="F2F2F2"/>
                </a:solidFill>
                <a:latin typeface="Urbanist"/>
                <a:ea typeface="Urbanist"/>
                <a:cs typeface="Urbanist"/>
                <a:sym typeface="Urbanist"/>
              </a:rPr>
              <a:t>RAG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76B6290D-2C74-EA20-AFA5-B88BEEDF5349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6999A22B-B402-11BB-6AEA-3D6C0E9D9E5E}"/>
              </a:ext>
            </a:extLst>
          </p:cNvPr>
          <p:cNvSpPr txBox="1"/>
          <p:nvPr/>
        </p:nvSpPr>
        <p:spPr>
          <a:xfrm>
            <a:off x="473245" y="1987276"/>
            <a:ext cx="562275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dirty="0">
                <a:solidFill>
                  <a:srgbClr val="F2F2F2"/>
                </a:solidFill>
              </a:rPr>
              <a:t>Providing the model with external data to ensure       </a:t>
            </a:r>
          </a:p>
          <a:p>
            <a:r>
              <a:rPr lang="en-US" sz="1800" dirty="0">
                <a:solidFill>
                  <a:srgbClr val="F2F2F2"/>
                </a:solidFill>
              </a:rPr>
              <a:t>factual accuracy.</a:t>
            </a:r>
          </a:p>
          <a:p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Context Injection: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Supplies relevant regulatory text for every query.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nn-NO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Evidence-Based: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Grounds all answers in </a:t>
            </a:r>
            <a:r>
              <a:rPr lang="en-US" sz="1800" b="1" dirty="0">
                <a:solidFill>
                  <a:srgbClr val="F2F2F2"/>
                </a:solidFill>
              </a:rPr>
              <a:t>official sources</a:t>
            </a:r>
            <a:r>
              <a:rPr lang="en-US" sz="1800" dirty="0">
                <a:solidFill>
                  <a:srgbClr val="F2F2F2"/>
                </a:solidFill>
              </a:rPr>
              <a:t> (B.O.I) to eliminate hallucinations.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Dynamic Knowledge: </a:t>
            </a:r>
            <a:r>
              <a:rPr lang="en-US" sz="1800" dirty="0">
                <a:solidFill>
                  <a:srgbClr val="F2F2F2"/>
                </a:solidFill>
              </a:rPr>
              <a:t>Accesses the latest documents without the need for retraining.</a:t>
            </a:r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A0AC6841-0F81-F4E6-A25B-684A34C6F1B7}"/>
              </a:ext>
            </a:extLst>
          </p:cNvPr>
          <p:cNvSpPr/>
          <p:nvPr/>
        </p:nvSpPr>
        <p:spPr>
          <a:xfrm flipH="1">
            <a:off x="6179642" y="1871427"/>
            <a:ext cx="45719" cy="32737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8;p13">
            <a:extLst>
              <a:ext uri="{FF2B5EF4-FFF2-40B4-BE49-F238E27FC236}">
                <a16:creationId xmlns:a16="http://schemas.microsoft.com/office/drawing/2014/main" id="{2FCD1781-38C1-A6EC-216F-40017A062752}"/>
              </a:ext>
            </a:extLst>
          </p:cNvPr>
          <p:cNvSpPr txBox="1"/>
          <p:nvPr/>
        </p:nvSpPr>
        <p:spPr>
          <a:xfrm>
            <a:off x="6438675" y="1693456"/>
            <a:ext cx="562275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Vector Database: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Engineered a vector database using </a:t>
            </a:r>
            <a:r>
              <a:rPr lang="en-US" sz="1800" b="1" dirty="0">
                <a:solidFill>
                  <a:srgbClr val="F2F2F2"/>
                </a:solidFill>
              </a:rPr>
              <a:t>ChromaDB</a:t>
            </a:r>
            <a:r>
              <a:rPr lang="en-US" sz="1800" dirty="0">
                <a:solidFill>
                  <a:srgbClr val="F2F2F2"/>
                </a:solidFill>
              </a:rPr>
              <a:t>, consisting of </a:t>
            </a:r>
            <a:r>
              <a:rPr lang="en-US" sz="1800" b="1" dirty="0">
                <a:solidFill>
                  <a:srgbClr val="F2F2F2"/>
                </a:solidFill>
              </a:rPr>
              <a:t>518 text chunks</a:t>
            </a:r>
            <a:r>
              <a:rPr lang="en-US" sz="1800" dirty="0">
                <a:solidFill>
                  <a:srgbClr val="F2F2F2"/>
                </a:solidFill>
              </a:rPr>
              <a:t> extracted from official regulations.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Dual-Encoder Strategy: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Compared </a:t>
            </a:r>
            <a:r>
              <a:rPr lang="en-US" sz="1800" b="1" dirty="0">
                <a:solidFill>
                  <a:srgbClr val="F2F2F2"/>
                </a:solidFill>
              </a:rPr>
              <a:t>all-MiniLM</a:t>
            </a:r>
            <a:r>
              <a:rPr lang="en-US" sz="1800" dirty="0">
                <a:solidFill>
                  <a:srgbClr val="F2F2F2"/>
                </a:solidFill>
              </a:rPr>
              <a:t> and </a:t>
            </a:r>
            <a:r>
              <a:rPr lang="en-US" sz="1800" b="1" dirty="0">
                <a:solidFill>
                  <a:srgbClr val="F2F2F2"/>
                </a:solidFill>
              </a:rPr>
              <a:t>LegalBERT</a:t>
            </a:r>
            <a:r>
              <a:rPr lang="en-US" sz="1800" dirty="0">
                <a:solidFill>
                  <a:srgbClr val="F2F2F2"/>
                </a:solidFill>
              </a:rPr>
              <a:t> to determine the most effective embedding model for banking and legal terminology.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Retrieval Evaluation: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Measured </a:t>
            </a:r>
            <a:r>
              <a:rPr lang="en-US" sz="1800" b="1" dirty="0" err="1">
                <a:solidFill>
                  <a:schemeClr val="bg1">
                    <a:lumMod val="95000"/>
                  </a:schemeClr>
                </a:solidFill>
              </a:rPr>
              <a:t>Hit@K</a:t>
            </a:r>
            <a:r>
              <a:rPr lang="en-US" sz="1800" b="1" dirty="0">
                <a:solidFill>
                  <a:srgbClr val="F2F2F2"/>
                </a:solidFill>
              </a:rPr>
              <a:t> (HitRate)</a:t>
            </a:r>
            <a:endParaRPr lang="en-US" sz="1800" dirty="0">
              <a:solidFill>
                <a:srgbClr val="F2F2F2"/>
              </a:solidFill>
            </a:endParaRPr>
          </a:p>
        </p:txBody>
      </p:sp>
      <p:pic>
        <p:nvPicPr>
          <p:cNvPr id="23" name="תמונה 22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08055D3-AF93-5B9E-2AE5-A2144CB44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297" y="4544068"/>
            <a:ext cx="3802401" cy="173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9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E8A46CF-A672-E505-2376-275AABB5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3;p15" descr="image.png">
            <a:extLst>
              <a:ext uri="{FF2B5EF4-FFF2-40B4-BE49-F238E27FC236}">
                <a16:creationId xmlns:a16="http://schemas.microsoft.com/office/drawing/2014/main" id="{896705B1-AC28-F9CF-A026-B8B4037CBE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B90EBA20-4154-AB19-43FD-7AC4F4EC3E4B}"/>
              </a:ext>
            </a:extLst>
          </p:cNvPr>
          <p:cNvSpPr txBox="1"/>
          <p:nvPr/>
        </p:nvSpPr>
        <p:spPr>
          <a:xfrm>
            <a:off x="480436" y="244659"/>
            <a:ext cx="196616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RESULTS </a:t>
            </a: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BD1103EA-58B3-BD26-8142-5AB3E21742AE}"/>
              </a:ext>
            </a:extLst>
          </p:cNvPr>
          <p:cNvSpPr/>
          <p:nvPr/>
        </p:nvSpPr>
        <p:spPr>
          <a:xfrm>
            <a:off x="353255" y="244659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16212-072A-8CCC-4D7D-67649E7E2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81" y="1676817"/>
            <a:ext cx="5553763" cy="332148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0224DC-FEAE-7B9A-3117-702A1C256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195" y="336948"/>
            <a:ext cx="4814460" cy="3000612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04B60-E309-1D67-ED79-AA7464F73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195" y="3342279"/>
            <a:ext cx="4814460" cy="2961807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30517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22E84E0D-5883-201E-F623-319B3EE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86D09913-DD2F-0AB0-1D0D-4D2A0961F1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A5BAD159-A290-DF82-EEA3-3C3C65E87330}"/>
              </a:ext>
            </a:extLst>
          </p:cNvPr>
          <p:cNvSpPr txBox="1"/>
          <p:nvPr/>
        </p:nvSpPr>
        <p:spPr>
          <a:xfrm>
            <a:off x="474411" y="245556"/>
            <a:ext cx="2925823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</a:rPr>
              <a:t>CONCLUSION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02E29998-45C5-4E1E-453F-38C00F17E41B}"/>
              </a:ext>
            </a:extLst>
          </p:cNvPr>
          <p:cNvSpPr txBox="1"/>
          <p:nvPr/>
        </p:nvSpPr>
        <p:spPr>
          <a:xfrm>
            <a:off x="518186" y="2819997"/>
            <a:ext cx="8390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Things We (Painfully) Learned: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7DE61AA3-BDFB-53E7-8AEE-E924F9E2A63B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7C2C1466-1FB2-0FE8-5D35-72ED36D33363}"/>
              </a:ext>
            </a:extLst>
          </p:cNvPr>
          <p:cNvSpPr txBox="1"/>
          <p:nvPr/>
        </p:nvSpPr>
        <p:spPr>
          <a:xfrm>
            <a:off x="518186" y="1402671"/>
            <a:ext cx="1029083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Minor hallucinations are still present.</a:t>
            </a: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The model identifies the correct chunk in most cases, but consistency is not guaranteed.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 a high-stakes domain like this, even small errors are unacceptable.</a:t>
            </a: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68F5B512-688F-EB69-6D20-66CF92AF704D}"/>
              </a:ext>
            </a:extLst>
          </p:cNvPr>
          <p:cNvSpPr txBox="1"/>
          <p:nvPr/>
        </p:nvSpPr>
        <p:spPr>
          <a:xfrm>
            <a:off x="518186" y="998943"/>
            <a:ext cx="8390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Looks Good… But Can Be Better: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7A731623-AF71-D9C4-3F4F-D36B48E9C774}"/>
              </a:ext>
            </a:extLst>
          </p:cNvPr>
          <p:cNvSpPr txBox="1"/>
          <p:nvPr/>
        </p:nvSpPr>
        <p:spPr>
          <a:xfrm>
            <a:off x="518186" y="3256052"/>
            <a:ext cx="1029083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Each model comes with its own pros and cons.</a:t>
            </a: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Hallucination handling needs to be significantly stricter.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A diverse set of KPIs is needed to properly evaluate model quality.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EE9F0940-BEB7-7F69-4337-5B01468429BD}"/>
              </a:ext>
            </a:extLst>
          </p:cNvPr>
          <p:cNvSpPr txBox="1"/>
          <p:nvPr/>
        </p:nvSpPr>
        <p:spPr>
          <a:xfrm>
            <a:off x="518186" y="4673378"/>
            <a:ext cx="8390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Where Do We Go From Here?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F7AA6849-9885-F48C-208C-4D449D98E7BA}"/>
              </a:ext>
            </a:extLst>
          </p:cNvPr>
          <p:cNvSpPr txBox="1"/>
          <p:nvPr/>
        </p:nvSpPr>
        <p:spPr>
          <a:xfrm>
            <a:off x="518186" y="5104265"/>
            <a:ext cx="1029083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Experiment with additional models and architectures. 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Introduce more rigorous validation and consistency checks in the RAG pipeline.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Add a faithfulness metric using an LLM judge to verify citation-explanation alignment. </a:t>
            </a:r>
          </a:p>
        </p:txBody>
      </p:sp>
    </p:spTree>
    <p:extLst>
      <p:ext uri="{BB962C8B-B14F-4D97-AF65-F5344CB8AC3E}">
        <p14:creationId xmlns:p14="http://schemas.microsoft.com/office/powerpoint/2010/main" val="260058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607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</vt:lpstr>
      <vt:lpstr>Calibri</vt:lpstr>
      <vt:lpstr>Inter SemiBold</vt:lpstr>
      <vt:lpstr>Arial</vt:lpstr>
      <vt:lpstr>Urbanist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Naftalishen</cp:lastModifiedBy>
  <cp:revision>65</cp:revision>
  <dcterms:modified xsi:type="dcterms:W3CDTF">2026-01-19T03:05:12Z</dcterms:modified>
</cp:coreProperties>
</file>