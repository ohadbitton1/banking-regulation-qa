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68" r:id="rId3"/>
    <p:sldId id="269" r:id="rId4"/>
    <p:sldId id="271" r:id="rId5"/>
    <p:sldId id="272" r:id="rId6"/>
    <p:sldId id="267" r:id="rId7"/>
    <p:sldId id="270" r:id="rId8"/>
  </p:sldIdLst>
  <p:sldSz cx="12192000" cy="6858000"/>
  <p:notesSz cx="6858000" cy="9144000"/>
  <p:embeddedFontLst>
    <p:embeddedFont>
      <p:font typeface="Inter" panose="020B0604020202020204" charset="0"/>
      <p:regular r:id="rId10"/>
      <p:bold r:id="rId11"/>
      <p:italic r:id="rId12"/>
      <p:boldItalic r:id="rId13"/>
    </p:embeddedFont>
    <p:embeddedFont>
      <p:font typeface="Inter SemiBold" panose="020B0604020202020204" charset="0"/>
      <p:regular r:id="rId14"/>
      <p:bold r:id="rId15"/>
      <p:italic r:id="rId16"/>
      <p:boldItalic r:id="rId17"/>
    </p:embeddedFont>
    <p:embeddedFont>
      <p:font typeface="Urbanist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ED64E65-FE31-4644-8823-DAFD86DB174A}">
  <a:tblStyle styleId="{4ED64E65-FE31-4644-8823-DAFD86DB174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viewProps" Target="viewProp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>
          <a:extLst>
            <a:ext uri="{FF2B5EF4-FFF2-40B4-BE49-F238E27FC236}">
              <a16:creationId xmlns:a16="http://schemas.microsoft.com/office/drawing/2014/main" id="{2E5E52ED-B292-98A3-9EF7-091FF9182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>
            <a:extLst>
              <a:ext uri="{FF2B5EF4-FFF2-40B4-BE49-F238E27FC236}">
                <a16:creationId xmlns:a16="http://schemas.microsoft.com/office/drawing/2014/main" id="{042BFBBD-7FD2-C1DA-F26A-C284F515A5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3:notes">
            <a:extLst>
              <a:ext uri="{FF2B5EF4-FFF2-40B4-BE49-F238E27FC236}">
                <a16:creationId xmlns:a16="http://schemas.microsoft.com/office/drawing/2014/main" id="{FBD53C8A-DA3A-5CBD-EA87-F6A38CE90B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2124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>
          <a:extLst>
            <a:ext uri="{FF2B5EF4-FFF2-40B4-BE49-F238E27FC236}">
              <a16:creationId xmlns:a16="http://schemas.microsoft.com/office/drawing/2014/main" id="{3D3E236F-4684-16ED-2A7C-DB8AC362B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>
            <a:extLst>
              <a:ext uri="{FF2B5EF4-FFF2-40B4-BE49-F238E27FC236}">
                <a16:creationId xmlns:a16="http://schemas.microsoft.com/office/drawing/2014/main" id="{8AEBF301-E57D-DBA3-3007-EEECD1612D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3:notes">
            <a:extLst>
              <a:ext uri="{FF2B5EF4-FFF2-40B4-BE49-F238E27FC236}">
                <a16:creationId xmlns:a16="http://schemas.microsoft.com/office/drawing/2014/main" id="{9B0A1CD8-A3B2-CB96-5861-782338FF9F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45202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>
          <a:extLst>
            <a:ext uri="{FF2B5EF4-FFF2-40B4-BE49-F238E27FC236}">
              <a16:creationId xmlns:a16="http://schemas.microsoft.com/office/drawing/2014/main" id="{2E5E52ED-B292-98A3-9EF7-091FF9182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>
            <a:extLst>
              <a:ext uri="{FF2B5EF4-FFF2-40B4-BE49-F238E27FC236}">
                <a16:creationId xmlns:a16="http://schemas.microsoft.com/office/drawing/2014/main" id="{042BFBBD-7FD2-C1DA-F26A-C284F515A5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3:notes">
            <a:extLst>
              <a:ext uri="{FF2B5EF4-FFF2-40B4-BE49-F238E27FC236}">
                <a16:creationId xmlns:a16="http://schemas.microsoft.com/office/drawing/2014/main" id="{FBD53C8A-DA3A-5CBD-EA87-F6A38CE90B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21248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>
          <a:extLst>
            <a:ext uri="{FF2B5EF4-FFF2-40B4-BE49-F238E27FC236}">
              <a16:creationId xmlns:a16="http://schemas.microsoft.com/office/drawing/2014/main" id="{D7718B6B-D2A3-C9BB-BEE6-0877CBA98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>
            <a:extLst>
              <a:ext uri="{FF2B5EF4-FFF2-40B4-BE49-F238E27FC236}">
                <a16:creationId xmlns:a16="http://schemas.microsoft.com/office/drawing/2014/main" id="{60BB2E9C-13AC-17C9-A3A7-6C17D0A58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3:notes">
            <a:extLst>
              <a:ext uri="{FF2B5EF4-FFF2-40B4-BE49-F238E27FC236}">
                <a16:creationId xmlns:a16="http://schemas.microsoft.com/office/drawing/2014/main" id="{DCD620B0-45A1-E54A-F259-75C0D8AB4E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010753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9084205C-3E22-B54C-96B3-DF28C8D8C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1050EB1E-2A3B-64B4-591B-EF52066A0B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61B75D58-FB54-3ECE-8EA5-3F2A10B56C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37590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>
          <a:extLst>
            <a:ext uri="{FF2B5EF4-FFF2-40B4-BE49-F238E27FC236}">
              <a16:creationId xmlns:a16="http://schemas.microsoft.com/office/drawing/2014/main" id="{FAD83F17-DCFD-6745-448E-1259A404C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>
            <a:extLst>
              <a:ext uri="{FF2B5EF4-FFF2-40B4-BE49-F238E27FC236}">
                <a16:creationId xmlns:a16="http://schemas.microsoft.com/office/drawing/2014/main" id="{128B49B5-4DC8-B1CD-B002-2E023B1AFF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3:notes">
            <a:extLst>
              <a:ext uri="{FF2B5EF4-FFF2-40B4-BE49-F238E27FC236}">
                <a16:creationId xmlns:a16="http://schemas.microsoft.com/office/drawing/2014/main" id="{0C423171-0A09-B9DB-FA4C-BCDFF075D0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645040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/>
        </p:nvSpPr>
        <p:spPr>
          <a:xfrm>
            <a:off x="485055" y="247959"/>
            <a:ext cx="4093082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F9FAFB"/>
                </a:solidFill>
                <a:latin typeface="Urbanist"/>
                <a:ea typeface="Urbanist"/>
                <a:cs typeface="Urbanist"/>
                <a:sym typeface="Urbanist"/>
              </a:rPr>
              <a:t>REGUL</a:t>
            </a:r>
            <a:r>
              <a:rPr lang="en-US" sz="3300" b="1" i="0" u="none" strike="noStrike" cap="none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AI</a:t>
            </a:r>
            <a:r>
              <a:rPr lang="en-US" sz="3300" b="1" i="0" u="none" strike="noStrike" cap="none" dirty="0">
                <a:solidFill>
                  <a:srgbClr val="F9FAFB"/>
                </a:solidFill>
                <a:latin typeface="Urbanist"/>
                <a:ea typeface="Urbanist"/>
                <a:cs typeface="Urbanist"/>
                <a:sym typeface="Urbanist"/>
              </a:rPr>
              <a:t>LTION </a:t>
            </a:r>
          </a:p>
        </p:txBody>
      </p:sp>
      <p:sp>
        <p:nvSpPr>
          <p:cNvPr id="2" name="Google Shape;127;p15">
            <a:extLst>
              <a:ext uri="{FF2B5EF4-FFF2-40B4-BE49-F238E27FC236}">
                <a16:creationId xmlns:a16="http://schemas.microsoft.com/office/drawing/2014/main" id="{4536C468-5595-7F0C-4820-E3E19813D8EE}"/>
              </a:ext>
            </a:extLst>
          </p:cNvPr>
          <p:cNvSpPr/>
          <p:nvPr/>
        </p:nvSpPr>
        <p:spPr>
          <a:xfrm>
            <a:off x="378810" y="247959"/>
            <a:ext cx="57150" cy="50482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88;p13">
            <a:extLst>
              <a:ext uri="{FF2B5EF4-FFF2-40B4-BE49-F238E27FC236}">
                <a16:creationId xmlns:a16="http://schemas.microsoft.com/office/drawing/2014/main" id="{56F59E24-476E-7785-2CA4-E4EC7A3775F7}"/>
              </a:ext>
            </a:extLst>
          </p:cNvPr>
          <p:cNvSpPr txBox="1"/>
          <p:nvPr/>
        </p:nvSpPr>
        <p:spPr>
          <a:xfrm>
            <a:off x="533128" y="4225021"/>
            <a:ext cx="303700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800" b="1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The Data:</a:t>
            </a:r>
          </a:p>
        </p:txBody>
      </p:sp>
      <p:sp>
        <p:nvSpPr>
          <p:cNvPr id="5" name="Google Shape;88;p13">
            <a:extLst>
              <a:ext uri="{FF2B5EF4-FFF2-40B4-BE49-F238E27FC236}">
                <a16:creationId xmlns:a16="http://schemas.microsoft.com/office/drawing/2014/main" id="{79432676-2805-7CDF-1089-C447F2B5AD14}"/>
              </a:ext>
            </a:extLst>
          </p:cNvPr>
          <p:cNvSpPr txBox="1"/>
          <p:nvPr/>
        </p:nvSpPr>
        <p:spPr>
          <a:xfrm>
            <a:off x="533128" y="4710514"/>
            <a:ext cx="6923221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Official Bank of Israel banking &amp; financial regulations.</a:t>
            </a:r>
            <a:endParaRPr lang="nn-NO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Synthetic Q&amp;A generation to ensure coverage and consistency.</a:t>
            </a:r>
          </a:p>
          <a:p>
            <a:pPr marL="285750" indent="-285750"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Questions designed to test precision, grounding, and edge</a:t>
            </a:r>
            <a:r>
              <a:rPr lang="en-US" sz="1800" dirty="0">
                <a:solidFill>
                  <a:srgbClr val="FFC000"/>
                </a:solidFill>
              </a:rPr>
              <a:t> 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cases.</a:t>
            </a:r>
          </a:p>
          <a:p>
            <a:pPr lvl="0">
              <a:lnSpc>
                <a:spcPct val="150000"/>
              </a:lnSpc>
            </a:pPr>
            <a:endParaRPr lang="en-US" sz="1800" b="1" dirty="0">
              <a:solidFill>
                <a:srgbClr val="FFC00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" name="Google Shape;88;p13">
            <a:extLst>
              <a:ext uri="{FF2B5EF4-FFF2-40B4-BE49-F238E27FC236}">
                <a16:creationId xmlns:a16="http://schemas.microsoft.com/office/drawing/2014/main" id="{786C2DD1-53B4-41AD-E94E-933E921FE532}"/>
              </a:ext>
            </a:extLst>
          </p:cNvPr>
          <p:cNvSpPr txBox="1"/>
          <p:nvPr/>
        </p:nvSpPr>
        <p:spPr>
          <a:xfrm>
            <a:off x="533128" y="923308"/>
            <a:ext cx="303700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800" b="1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PROJECT:</a:t>
            </a:r>
            <a:endParaRPr lang="en-US" sz="2800" dirty="0">
              <a:solidFill>
                <a:srgbClr val="FFC000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533128" y="1524719"/>
            <a:ext cx="6716336" cy="24929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Regulatory texts are lengthy, highly technical, and require </a:t>
            </a:r>
            <a:r>
              <a:rPr lang="en-US" sz="1800" dirty="0">
                <a:solidFill>
                  <a:srgbClr val="FFC000"/>
                </a:solidFill>
              </a:rPr>
              <a:t>strict factual accuracy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. General-purpose LLMs often </a:t>
            </a:r>
            <a:r>
              <a:rPr lang="en-US" sz="1800" dirty="0">
                <a:solidFill>
                  <a:srgbClr val="FFC000"/>
                </a:solidFill>
              </a:rPr>
              <a:t>hallucinate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 and fail to capture legal nuance, making them unreliable for regulatory reasoning.</a:t>
            </a:r>
          </a:p>
          <a:p>
            <a:pPr>
              <a:buClr>
                <a:srgbClr val="FFC000"/>
              </a:buClr>
            </a:pPr>
            <a:endParaRPr lang="en-US" sz="1800" b="1" dirty="0">
              <a:solidFill>
                <a:schemeClr val="bg1">
                  <a:lumMod val="95000"/>
                </a:schemeClr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>
              <a:buClr>
                <a:srgbClr val="FFC000"/>
              </a:buClr>
            </a:pPr>
            <a:r>
              <a:rPr lang="en-US" sz="1800" b="1" dirty="0">
                <a:solidFill>
                  <a:srgbClr val="FFC000"/>
                </a:solidFill>
              </a:rPr>
              <a:t>Goal: 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accurate, grounded Q&amp;A over banking regulations.</a:t>
            </a:r>
          </a:p>
          <a:p>
            <a:pPr marL="342900" indent="-34290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en-US" sz="1800" b="1" dirty="0">
              <a:solidFill>
                <a:schemeClr val="bg1">
                  <a:lumMod val="95000"/>
                </a:schemeClr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>
              <a:buClr>
                <a:srgbClr val="FFC000"/>
              </a:buClr>
            </a:pPr>
            <a:r>
              <a:rPr lang="en-US" sz="1800" b="1" dirty="0">
                <a:solidFill>
                  <a:srgbClr val="FFC000"/>
                </a:solidFill>
              </a:rPr>
              <a:t>Solution: 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Domain-aware RAG + FT models.</a:t>
            </a:r>
            <a:endParaRPr lang="en-US" sz="1800" dirty="0">
              <a:solidFill>
                <a:schemeClr val="bg1">
                  <a:lumMod val="95000"/>
                </a:schemeClr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lvl="0"/>
            <a:endParaRPr lang="en-US" sz="1800" b="1" dirty="0">
              <a:solidFill>
                <a:srgbClr val="FFC00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CE157F3-E577-BA35-C424-D6DDAA01BCB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20000"/>
                    </a14:imgEffect>
                  </a14:imgLayer>
                </a14:imgProps>
              </a:ext>
            </a:extLst>
          </a:blip>
          <a:srcRect l="54628" r="1750"/>
          <a:stretch>
            <a:fillRect/>
          </a:stretch>
        </p:blipFill>
        <p:spPr>
          <a:xfrm>
            <a:off x="7456348" y="-5210"/>
            <a:ext cx="4735652" cy="6863210"/>
          </a:xfrm>
          <a:prstGeom prst="rect">
            <a:avLst/>
          </a:prstGeom>
          <a:effectLst>
            <a:softEdge rad="25400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>
          <a:extLst>
            <a:ext uri="{FF2B5EF4-FFF2-40B4-BE49-F238E27FC236}">
              <a16:creationId xmlns:a16="http://schemas.microsoft.com/office/drawing/2014/main" id="{D0A7CC1C-86D4-C571-70FC-ECE64402E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5" descr="image.png">
            <a:extLst>
              <a:ext uri="{FF2B5EF4-FFF2-40B4-BE49-F238E27FC236}">
                <a16:creationId xmlns:a16="http://schemas.microsoft.com/office/drawing/2014/main" id="{80333E22-D108-DA02-6229-75A082A79E5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86;p13">
            <a:extLst>
              <a:ext uri="{FF2B5EF4-FFF2-40B4-BE49-F238E27FC236}">
                <a16:creationId xmlns:a16="http://schemas.microsoft.com/office/drawing/2014/main" id="{6985ACC8-CA36-4C65-BFC8-104AA7A4FA09}"/>
              </a:ext>
            </a:extLst>
          </p:cNvPr>
          <p:cNvSpPr txBox="1"/>
          <p:nvPr/>
        </p:nvSpPr>
        <p:spPr>
          <a:xfrm>
            <a:off x="459840" y="265124"/>
            <a:ext cx="4104105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F9FAFB"/>
                </a:solidFill>
                <a:latin typeface="Urbanist"/>
                <a:ea typeface="Urbanist"/>
                <a:cs typeface="Urbanist"/>
                <a:sym typeface="Urbanist"/>
              </a:rPr>
              <a:t>MODELS </a:t>
            </a:r>
            <a:r>
              <a:rPr lang="en-US" sz="3300" b="1" i="0" u="none" strike="noStrike" cap="none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&amp;</a:t>
            </a:r>
            <a:r>
              <a:rPr lang="en-US" sz="3300" b="1" i="0" u="none" strike="noStrike" cap="none" dirty="0">
                <a:solidFill>
                  <a:srgbClr val="F9FAFB"/>
                </a:solidFill>
                <a:latin typeface="Urbanist"/>
                <a:ea typeface="Urbanist"/>
                <a:cs typeface="Urbanist"/>
                <a:sym typeface="Urbanist"/>
              </a:rPr>
              <a:t> METRICS</a:t>
            </a: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58467C1D-E2DA-4082-8BBA-6B8FDA36AC41}"/>
              </a:ext>
            </a:extLst>
          </p:cNvPr>
          <p:cNvSpPr txBox="1"/>
          <p:nvPr/>
        </p:nvSpPr>
        <p:spPr>
          <a:xfrm>
            <a:off x="1065476" y="1232165"/>
            <a:ext cx="303700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800" b="1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Models Evaluated:</a:t>
            </a:r>
          </a:p>
        </p:txBody>
      </p:sp>
      <p:sp>
        <p:nvSpPr>
          <p:cNvPr id="9" name="Google Shape;127;p15">
            <a:extLst>
              <a:ext uri="{FF2B5EF4-FFF2-40B4-BE49-F238E27FC236}">
                <a16:creationId xmlns:a16="http://schemas.microsoft.com/office/drawing/2014/main" id="{A281F43E-3EB0-604B-3A70-1D2F97D27837}"/>
              </a:ext>
            </a:extLst>
          </p:cNvPr>
          <p:cNvSpPr/>
          <p:nvPr/>
        </p:nvSpPr>
        <p:spPr>
          <a:xfrm>
            <a:off x="362845" y="238941"/>
            <a:ext cx="57150" cy="50482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88;p13">
            <a:extLst>
              <a:ext uri="{FF2B5EF4-FFF2-40B4-BE49-F238E27FC236}">
                <a16:creationId xmlns:a16="http://schemas.microsoft.com/office/drawing/2014/main" id="{F5C197BB-24F6-1834-66BC-DF3077F15B3E}"/>
              </a:ext>
            </a:extLst>
          </p:cNvPr>
          <p:cNvSpPr txBox="1"/>
          <p:nvPr/>
        </p:nvSpPr>
        <p:spPr>
          <a:xfrm>
            <a:off x="362845" y="1663051"/>
            <a:ext cx="5622755" cy="24929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nn-NO" sz="1800" b="1" dirty="0">
                <a:solidFill>
                  <a:schemeClr val="bg1">
                    <a:lumMod val="95000"/>
                  </a:schemeClr>
                </a:solidFill>
              </a:rPr>
              <a:t>Llama + MiniLM</a:t>
            </a:r>
            <a:r>
              <a:rPr lang="nn-NO" sz="1800" dirty="0">
                <a:solidFill>
                  <a:schemeClr val="bg1">
                    <a:lumMod val="95000"/>
                  </a:schemeClr>
                </a:solidFill>
              </a:rPr>
              <a:t> – strong general baseline.</a:t>
            </a:r>
          </a:p>
          <a:p>
            <a:pPr>
              <a:buClr>
                <a:srgbClr val="FFC000"/>
              </a:buClr>
            </a:pPr>
            <a:endParaRPr lang="nn-NO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Llama + LegalBERT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 – domain-aware embeddings.</a:t>
            </a:r>
          </a:p>
          <a:p>
            <a:pPr>
              <a:buClr>
                <a:srgbClr val="FFC000"/>
              </a:buClr>
            </a:pPr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SaulLM + MiniLM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 – legal LLM with generic retrieval.</a:t>
            </a:r>
          </a:p>
          <a:p>
            <a:pPr>
              <a:buClr>
                <a:srgbClr val="FFC000"/>
              </a:buClr>
            </a:pPr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SaulLM + LegalBERT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 – full legal-domain stack.</a:t>
            </a:r>
            <a:endParaRPr lang="en-US" sz="1800" dirty="0">
              <a:solidFill>
                <a:schemeClr val="bg1">
                  <a:lumMod val="9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lvl="0"/>
            <a:endParaRPr lang="en-US" sz="1800" b="1" dirty="0">
              <a:solidFill>
                <a:srgbClr val="FFC00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5" name="Google Shape;127;p15">
            <a:extLst>
              <a:ext uri="{FF2B5EF4-FFF2-40B4-BE49-F238E27FC236}">
                <a16:creationId xmlns:a16="http://schemas.microsoft.com/office/drawing/2014/main" id="{FA5042DF-51D5-FD9D-2924-3F16581902D0}"/>
              </a:ext>
            </a:extLst>
          </p:cNvPr>
          <p:cNvSpPr/>
          <p:nvPr/>
        </p:nvSpPr>
        <p:spPr>
          <a:xfrm flipH="1">
            <a:off x="6199179" y="1376320"/>
            <a:ext cx="45719" cy="438010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88;p13">
            <a:extLst>
              <a:ext uri="{FF2B5EF4-FFF2-40B4-BE49-F238E27FC236}">
                <a16:creationId xmlns:a16="http://schemas.microsoft.com/office/drawing/2014/main" id="{C00D98A9-9883-205B-BF67-70AA995EE71F}"/>
              </a:ext>
            </a:extLst>
          </p:cNvPr>
          <p:cNvSpPr txBox="1"/>
          <p:nvPr/>
        </p:nvSpPr>
        <p:spPr>
          <a:xfrm>
            <a:off x="7109151" y="1232165"/>
            <a:ext cx="303700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800" b="1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Metrics Used:</a:t>
            </a:r>
          </a:p>
        </p:txBody>
      </p:sp>
      <p:sp>
        <p:nvSpPr>
          <p:cNvPr id="20" name="Google Shape;88;p13">
            <a:extLst>
              <a:ext uri="{FF2B5EF4-FFF2-40B4-BE49-F238E27FC236}">
                <a16:creationId xmlns:a16="http://schemas.microsoft.com/office/drawing/2014/main" id="{04A72EA5-0432-AFF5-A165-246441A632E6}"/>
              </a:ext>
            </a:extLst>
          </p:cNvPr>
          <p:cNvSpPr txBox="1"/>
          <p:nvPr/>
        </p:nvSpPr>
        <p:spPr>
          <a:xfrm>
            <a:off x="6454516" y="1663051"/>
            <a:ext cx="5622755" cy="304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Verdict Accuracy 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– correct regulatory conclusion.</a:t>
            </a:r>
          </a:p>
          <a:p>
            <a:pPr>
              <a:buClr>
                <a:srgbClr val="FFC000"/>
              </a:buClr>
            </a:pPr>
            <a:endParaRPr lang="nn-NO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Hit@K 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– relevant source retrieved in top-K.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Citation Accuracy - 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verifies that the model’s answer is correctly supported by the cited regulatory source.</a:t>
            </a:r>
            <a:endParaRPr lang="en-US" sz="1800" dirty="0">
              <a:solidFill>
                <a:schemeClr val="bg1">
                  <a:lumMod val="95000"/>
                </a:schemeClr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>
              <a:buClr>
                <a:srgbClr val="FFC000"/>
              </a:buClr>
            </a:pPr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Hallucination Rate 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– unsupported or fabricated claims.</a:t>
            </a:r>
            <a:endParaRPr lang="en-US" sz="1800" dirty="0">
              <a:solidFill>
                <a:schemeClr val="bg1">
                  <a:lumMod val="95000"/>
                </a:schemeClr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DF1715D-AC90-6715-6822-1A5CD07E4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429" y="4231511"/>
            <a:ext cx="3425555" cy="1926875"/>
          </a:xfrm>
          <a:prstGeom prst="rect">
            <a:avLst/>
          </a:prstGeom>
        </p:spPr>
      </p:pic>
      <p:pic>
        <p:nvPicPr>
          <p:cNvPr id="26" name="Graphic 25" descr="Bullseye with solid fill">
            <a:extLst>
              <a:ext uri="{FF2B5EF4-FFF2-40B4-BE49-F238E27FC236}">
                <a16:creationId xmlns:a16="http://schemas.microsoft.com/office/drawing/2014/main" id="{220E0D56-989B-B2E0-6C39-84BBD02797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64437" y="1176088"/>
            <a:ext cx="539905" cy="539905"/>
          </a:xfrm>
          <a:prstGeom prst="rect">
            <a:avLst/>
          </a:prstGeom>
        </p:spPr>
      </p:pic>
      <p:pic>
        <p:nvPicPr>
          <p:cNvPr id="23" name="Graphic 22" descr="Remote learning language with solid fill">
            <a:extLst>
              <a:ext uri="{FF2B5EF4-FFF2-40B4-BE49-F238E27FC236}">
                <a16:creationId xmlns:a16="http://schemas.microsoft.com/office/drawing/2014/main" id="{110DA3DB-FA67-9244-5765-FC21F0DCB2E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2845" y="1152333"/>
            <a:ext cx="587416" cy="587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590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>
          <a:extLst>
            <a:ext uri="{FF2B5EF4-FFF2-40B4-BE49-F238E27FC236}">
              <a16:creationId xmlns:a16="http://schemas.microsoft.com/office/drawing/2014/main" id="{9E39459F-7C10-3BB3-8045-BCB7B4D1C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5" descr="image.png">
            <a:extLst>
              <a:ext uri="{FF2B5EF4-FFF2-40B4-BE49-F238E27FC236}">
                <a16:creationId xmlns:a16="http://schemas.microsoft.com/office/drawing/2014/main" id="{10C7B529-3227-4B4D-B99F-6C7239C4D60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86;p13">
            <a:extLst>
              <a:ext uri="{FF2B5EF4-FFF2-40B4-BE49-F238E27FC236}">
                <a16:creationId xmlns:a16="http://schemas.microsoft.com/office/drawing/2014/main" id="{2E328B64-B46F-3B73-99A3-CEB459822ADD}"/>
              </a:ext>
            </a:extLst>
          </p:cNvPr>
          <p:cNvSpPr txBox="1"/>
          <p:nvPr/>
        </p:nvSpPr>
        <p:spPr>
          <a:xfrm>
            <a:off x="492822" y="270246"/>
            <a:ext cx="5902159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300" b="1" dirty="0">
                <a:solidFill>
                  <a:schemeClr val="bg1"/>
                </a:solidFill>
              </a:rPr>
              <a:t>NOVELTY </a:t>
            </a:r>
            <a:r>
              <a:rPr lang="en-US" sz="3300" b="1" dirty="0">
                <a:solidFill>
                  <a:srgbClr val="FFC000"/>
                </a:solidFill>
              </a:rPr>
              <a:t>&amp;</a:t>
            </a:r>
            <a:r>
              <a:rPr lang="en-US" sz="3300" b="1" dirty="0">
                <a:solidFill>
                  <a:schemeClr val="bg1"/>
                </a:solidFill>
              </a:rPr>
              <a:t> ACHIEVEMENTS</a:t>
            </a:r>
            <a:endParaRPr lang="en-US" sz="3300" b="1" i="0" u="none" strike="noStrike" cap="none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C18BC9F1-125A-C791-C5E1-D8BBC34978A5}"/>
              </a:ext>
            </a:extLst>
          </p:cNvPr>
          <p:cNvSpPr txBox="1"/>
          <p:nvPr/>
        </p:nvSpPr>
        <p:spPr>
          <a:xfrm>
            <a:off x="7027100" y="1230811"/>
            <a:ext cx="391458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800" b="1" dirty="0">
                <a:solidFill>
                  <a:srgbClr val="FFC000"/>
                </a:solidFill>
              </a:rPr>
              <a:t>Project Achievements</a:t>
            </a:r>
            <a:r>
              <a:rPr lang="en-US" sz="2800" b="1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</a:p>
        </p:txBody>
      </p:sp>
      <p:sp>
        <p:nvSpPr>
          <p:cNvPr id="9" name="Google Shape;127;p15">
            <a:extLst>
              <a:ext uri="{FF2B5EF4-FFF2-40B4-BE49-F238E27FC236}">
                <a16:creationId xmlns:a16="http://schemas.microsoft.com/office/drawing/2014/main" id="{138644A3-6346-9079-D737-0404C26A7C58}"/>
              </a:ext>
            </a:extLst>
          </p:cNvPr>
          <p:cNvSpPr/>
          <p:nvPr/>
        </p:nvSpPr>
        <p:spPr>
          <a:xfrm>
            <a:off x="362845" y="238941"/>
            <a:ext cx="57150" cy="50482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88;p13">
            <a:extLst>
              <a:ext uri="{FF2B5EF4-FFF2-40B4-BE49-F238E27FC236}">
                <a16:creationId xmlns:a16="http://schemas.microsoft.com/office/drawing/2014/main" id="{2A627BBE-2443-6D5E-4B29-FA3CC343836F}"/>
              </a:ext>
            </a:extLst>
          </p:cNvPr>
          <p:cNvSpPr txBox="1"/>
          <p:nvPr/>
        </p:nvSpPr>
        <p:spPr>
          <a:xfrm>
            <a:off x="6562360" y="1661697"/>
            <a:ext cx="5166513" cy="3323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Built a full end-to-end RAG system for regulatory question answering.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nn-NO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Benchmarked general vs legal LLMs and embeddings under identical conditions.</a:t>
            </a:r>
          </a:p>
          <a:p>
            <a:pPr>
              <a:buClr>
                <a:srgbClr val="FFC000"/>
              </a:buClr>
            </a:pPr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Designed a quantitative evaluation framework beyond generic accuracy.</a:t>
            </a:r>
          </a:p>
          <a:p>
            <a:pPr>
              <a:buClr>
                <a:srgbClr val="FFC000"/>
              </a:buClr>
            </a:pPr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Demonstrated measurable reductions in hallucination using domain-aware retrieval.</a:t>
            </a:r>
            <a:endParaRPr lang="en-US" sz="1800" dirty="0">
              <a:solidFill>
                <a:schemeClr val="bg1">
                  <a:lumMod val="95000"/>
                </a:schemeClr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8" name="Google Shape;88;p13">
            <a:extLst>
              <a:ext uri="{FF2B5EF4-FFF2-40B4-BE49-F238E27FC236}">
                <a16:creationId xmlns:a16="http://schemas.microsoft.com/office/drawing/2014/main" id="{15FA4A97-1A9D-3562-E268-E56177AF29AA}"/>
              </a:ext>
            </a:extLst>
          </p:cNvPr>
          <p:cNvSpPr txBox="1"/>
          <p:nvPr/>
        </p:nvSpPr>
        <p:spPr>
          <a:xfrm>
            <a:off x="840612" y="1230811"/>
            <a:ext cx="303700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800" b="1" dirty="0">
                <a:solidFill>
                  <a:srgbClr val="FFC000"/>
                </a:solidFill>
              </a:rPr>
              <a:t>Project Novelty</a:t>
            </a:r>
            <a:r>
              <a:rPr lang="en-US" sz="2800" b="1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</a:p>
        </p:txBody>
      </p:sp>
      <p:sp>
        <p:nvSpPr>
          <p:cNvPr id="20" name="Google Shape;88;p13">
            <a:extLst>
              <a:ext uri="{FF2B5EF4-FFF2-40B4-BE49-F238E27FC236}">
                <a16:creationId xmlns:a16="http://schemas.microsoft.com/office/drawing/2014/main" id="{61092D88-9540-C106-22B3-FE0F4C7F4759}"/>
              </a:ext>
            </a:extLst>
          </p:cNvPr>
          <p:cNvSpPr txBox="1"/>
          <p:nvPr/>
        </p:nvSpPr>
        <p:spPr>
          <a:xfrm>
            <a:off x="463127" y="1661697"/>
            <a:ext cx="5622755" cy="3323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Systematic comparison of legal vs general model stacks in a regulatory RAG setting.</a:t>
            </a:r>
          </a:p>
          <a:p>
            <a:pPr>
              <a:buClr>
                <a:srgbClr val="FFC000"/>
              </a:buClr>
            </a:pPr>
            <a:endParaRPr lang="nn-NO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Introduced citation-level evaluation for regulatory correctness.</a:t>
            </a:r>
          </a:p>
          <a:p>
            <a:pPr>
              <a:buClr>
                <a:srgbClr val="FFC000"/>
              </a:buClr>
            </a:pPr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Combined synthetic legal Q&amp;A generation with real regulatory texts.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Focused on trustworthiness, not just language fluency.</a:t>
            </a:r>
            <a:endParaRPr lang="en-US" sz="1800" dirty="0">
              <a:solidFill>
                <a:schemeClr val="bg1">
                  <a:lumMod val="95000"/>
                </a:schemeClr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3" name="Graphic 2" descr="Checkbox Checked with solid fill">
            <a:extLst>
              <a:ext uri="{FF2B5EF4-FFF2-40B4-BE49-F238E27FC236}">
                <a16:creationId xmlns:a16="http://schemas.microsoft.com/office/drawing/2014/main" id="{587DFB24-86DB-C360-4513-98EF6B6B61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21924" y="1093665"/>
            <a:ext cx="705176" cy="705176"/>
          </a:xfrm>
          <a:prstGeom prst="rect">
            <a:avLst/>
          </a:prstGeom>
        </p:spPr>
      </p:pic>
      <p:pic>
        <p:nvPicPr>
          <p:cNvPr id="13" name="Graphic 12" descr="Medal with solid fill">
            <a:extLst>
              <a:ext uri="{FF2B5EF4-FFF2-40B4-BE49-F238E27FC236}">
                <a16:creationId xmlns:a16="http://schemas.microsoft.com/office/drawing/2014/main" id="{207E7972-F46C-D604-A86C-88EA704AB21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9348" y="1188844"/>
            <a:ext cx="514818" cy="514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678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>
          <a:extLst>
            <a:ext uri="{FF2B5EF4-FFF2-40B4-BE49-F238E27FC236}">
              <a16:creationId xmlns:a16="http://schemas.microsoft.com/office/drawing/2014/main" id="{D0A7CC1C-86D4-C571-70FC-ECE64402E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5" descr="image.png">
            <a:extLst>
              <a:ext uri="{FF2B5EF4-FFF2-40B4-BE49-F238E27FC236}">
                <a16:creationId xmlns:a16="http://schemas.microsoft.com/office/drawing/2014/main" id="{80333E22-D108-DA02-6229-75A082A79E5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86;p13">
            <a:extLst>
              <a:ext uri="{FF2B5EF4-FFF2-40B4-BE49-F238E27FC236}">
                <a16:creationId xmlns:a16="http://schemas.microsoft.com/office/drawing/2014/main" id="{6985ACC8-CA36-4C65-BFC8-104AA7A4FA09}"/>
              </a:ext>
            </a:extLst>
          </p:cNvPr>
          <p:cNvSpPr txBox="1"/>
          <p:nvPr/>
        </p:nvSpPr>
        <p:spPr>
          <a:xfrm>
            <a:off x="472494" y="255977"/>
            <a:ext cx="3422528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3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METHODOLOGY</a:t>
            </a:r>
            <a:endParaRPr lang="en-US" sz="3300" b="1" i="0" u="none" strike="noStrike" cap="none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58467C1D-E2DA-4082-8BBA-6B8FDA36AC41}"/>
              </a:ext>
            </a:extLst>
          </p:cNvPr>
          <p:cNvSpPr txBox="1"/>
          <p:nvPr/>
        </p:nvSpPr>
        <p:spPr>
          <a:xfrm>
            <a:off x="472494" y="1019785"/>
            <a:ext cx="3532177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800" b="1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Part 1</a:t>
            </a:r>
          </a:p>
          <a:p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Fine Tuning: </a:t>
            </a:r>
          </a:p>
        </p:txBody>
      </p:sp>
      <p:sp>
        <p:nvSpPr>
          <p:cNvPr id="9" name="Google Shape;127;p15">
            <a:extLst>
              <a:ext uri="{FF2B5EF4-FFF2-40B4-BE49-F238E27FC236}">
                <a16:creationId xmlns:a16="http://schemas.microsoft.com/office/drawing/2014/main" id="{A281F43E-3EB0-604B-3A70-1D2F97D27837}"/>
              </a:ext>
            </a:extLst>
          </p:cNvPr>
          <p:cNvSpPr/>
          <p:nvPr/>
        </p:nvSpPr>
        <p:spPr>
          <a:xfrm>
            <a:off x="362845" y="238941"/>
            <a:ext cx="57150" cy="50482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88;p13">
            <a:extLst>
              <a:ext uri="{FF2B5EF4-FFF2-40B4-BE49-F238E27FC236}">
                <a16:creationId xmlns:a16="http://schemas.microsoft.com/office/drawing/2014/main" id="{F5C197BB-24F6-1834-66BC-DF3077F15B3E}"/>
              </a:ext>
            </a:extLst>
          </p:cNvPr>
          <p:cNvSpPr txBox="1"/>
          <p:nvPr/>
        </p:nvSpPr>
        <p:spPr>
          <a:xfrm>
            <a:off x="472494" y="1812595"/>
            <a:ext cx="5576338" cy="47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Updating the model itself to optimize it for the task.</a:t>
            </a:r>
            <a:endParaRPr lang="en-US" sz="1800" dirty="0">
              <a:solidFill>
                <a:schemeClr val="bg1">
                  <a:lumMod val="95000"/>
                </a:schemeClr>
              </a:solidFill>
              <a:latin typeface="Inter"/>
              <a:ea typeface="Inter"/>
              <a:sym typeface="Inter"/>
            </a:endParaRPr>
          </a:p>
          <a:p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</a:rPr>
              <a:t>Domain Specialization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:-</a:t>
            </a: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Enhanced the model’s regulatory expertise</a:t>
            </a:r>
          </a:p>
          <a:p>
            <a:pPr>
              <a:buClr>
                <a:srgbClr val="FFC000"/>
              </a:buClr>
            </a:pPr>
            <a:endParaRPr lang="nn-NO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</a:rPr>
              <a:t>Robustness to Negatives </a:t>
            </a: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- 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Trained the model on hard and soft negative samples to improve its ability to identify irrelevant information and avoid false positives.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en-US" sz="1800" dirty="0">
              <a:solidFill>
                <a:srgbClr val="F2F2F2"/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</a:rPr>
              <a:t>Structured Output Optimization:</a:t>
            </a:r>
            <a:r>
              <a:rPr lang="en-US" sz="1800" dirty="0">
                <a:solidFill>
                  <a:srgbClr val="FFC000"/>
                </a:solidFill>
              </a:rPr>
              <a:t> 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Fine-tuned the model to ensure consistent and valid JSON formatting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buClr>
                <a:srgbClr val="FFC000"/>
              </a:buClr>
            </a:pPr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  <a:p>
            <a:pPr lvl="0"/>
            <a:endParaRPr lang="en-US" sz="1800" b="1" dirty="0">
              <a:solidFill>
                <a:srgbClr val="FFC00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5" name="Google Shape;127;p15">
            <a:extLst>
              <a:ext uri="{FF2B5EF4-FFF2-40B4-BE49-F238E27FC236}">
                <a16:creationId xmlns:a16="http://schemas.microsoft.com/office/drawing/2014/main" id="{FA5042DF-51D5-FD9D-2924-3F16581902D0}"/>
              </a:ext>
            </a:extLst>
          </p:cNvPr>
          <p:cNvSpPr/>
          <p:nvPr/>
        </p:nvSpPr>
        <p:spPr>
          <a:xfrm>
            <a:off x="6142397" y="1972347"/>
            <a:ext cx="45719" cy="366987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88;p13">
            <a:extLst>
              <a:ext uri="{FF2B5EF4-FFF2-40B4-BE49-F238E27FC236}">
                <a16:creationId xmlns:a16="http://schemas.microsoft.com/office/drawing/2014/main" id="{52C44AC7-0284-96D8-76F7-12ECF0F81AA6}"/>
              </a:ext>
            </a:extLst>
          </p:cNvPr>
          <p:cNvSpPr txBox="1"/>
          <p:nvPr/>
        </p:nvSpPr>
        <p:spPr>
          <a:xfrm>
            <a:off x="6460578" y="1798773"/>
            <a:ext cx="5622755" cy="2769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endParaRPr lang="en-US" sz="1800" dirty="0">
              <a:solidFill>
                <a:srgbClr val="FFC000"/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</a:rPr>
              <a:t>Model Selection:</a:t>
            </a:r>
            <a:r>
              <a:rPr lang="en-US" sz="1800" dirty="0">
                <a:solidFill>
                  <a:srgbClr val="FFC000"/>
                </a:solidFill>
              </a:rPr>
              <a:t> 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Evaluated and compared </a:t>
            </a: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Llama 3.1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 and </a:t>
            </a: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Saul-7B (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pre-trained on the legal domain).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en-US" sz="1800" dirty="0">
              <a:solidFill>
                <a:srgbClr val="F2F2F2"/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</a:rPr>
              <a:t>Dataset Construction:</a:t>
            </a:r>
            <a:r>
              <a:rPr lang="en-US" sz="1800" dirty="0">
                <a:solidFill>
                  <a:srgbClr val="FFC000"/>
                </a:solidFill>
              </a:rPr>
              <a:t> 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Compiled a dataset of </a:t>
            </a: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2,000+ examples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, including </a:t>
            </a: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15-20% negative samples</a:t>
            </a: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 to enhance robustness and prevent hallucinations.</a:t>
            </a:r>
          </a:p>
          <a:p>
            <a:pPr>
              <a:buClr>
                <a:srgbClr val="FFC000"/>
              </a:buClr>
            </a:pPr>
            <a:endParaRPr lang="nn-NO" sz="1800" dirty="0">
              <a:solidFill>
                <a:srgbClr val="F2F2F2"/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</a:rPr>
              <a:t>FT KPI’S:</a:t>
            </a:r>
            <a:endParaRPr lang="en-US" sz="1800" dirty="0">
              <a:solidFill>
                <a:srgbClr val="F2F2F2"/>
              </a:solidFill>
            </a:endParaRPr>
          </a:p>
        </p:txBody>
      </p:sp>
      <p:pic>
        <p:nvPicPr>
          <p:cNvPr id="3" name="תמונה 2" descr="תמונה שמכילה טקסט, צילום מסך, גופן, תוכנ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CC6263CF-DBA7-C934-6D39-C37C9EB1A7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902" y="4771969"/>
            <a:ext cx="5085918" cy="1406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271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>
          <a:extLst>
            <a:ext uri="{FF2B5EF4-FFF2-40B4-BE49-F238E27FC236}">
              <a16:creationId xmlns:a16="http://schemas.microsoft.com/office/drawing/2014/main" id="{B7E45490-93F0-3B6A-F740-B4ED1EBF7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5" descr="image.png">
            <a:extLst>
              <a:ext uri="{FF2B5EF4-FFF2-40B4-BE49-F238E27FC236}">
                <a16:creationId xmlns:a16="http://schemas.microsoft.com/office/drawing/2014/main" id="{D5DC8BDF-6C09-9ADD-D774-BFB7D8F23E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86;p13">
            <a:extLst>
              <a:ext uri="{FF2B5EF4-FFF2-40B4-BE49-F238E27FC236}">
                <a16:creationId xmlns:a16="http://schemas.microsoft.com/office/drawing/2014/main" id="{39A379A4-BEF5-E2BF-980E-C86AF2F1D277}"/>
              </a:ext>
            </a:extLst>
          </p:cNvPr>
          <p:cNvSpPr txBox="1"/>
          <p:nvPr/>
        </p:nvSpPr>
        <p:spPr>
          <a:xfrm>
            <a:off x="468274" y="250911"/>
            <a:ext cx="3463569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3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METHODOLOGY</a:t>
            </a:r>
            <a:endParaRPr lang="en-US" sz="3300" b="1" i="0" u="none" strike="noStrike" cap="none" dirty="0">
              <a:solidFill>
                <a:srgbClr val="FFC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06643459-4822-66DD-8F33-2228FF27E3C6}"/>
              </a:ext>
            </a:extLst>
          </p:cNvPr>
          <p:cNvSpPr txBox="1"/>
          <p:nvPr/>
        </p:nvSpPr>
        <p:spPr>
          <a:xfrm>
            <a:off x="473245" y="1009653"/>
            <a:ext cx="3037005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800" b="1" dirty="0">
                <a:solidFill>
                  <a:srgbClr val="FFC000"/>
                </a:solidFill>
                <a:latin typeface="Urbanist"/>
                <a:ea typeface="Urbanist"/>
                <a:cs typeface="Urbanist"/>
                <a:sym typeface="Urbanist"/>
              </a:rPr>
              <a:t>Part 2 </a:t>
            </a:r>
          </a:p>
          <a:p>
            <a:r>
              <a:rPr lang="en-US" sz="2800" b="1" dirty="0">
                <a:solidFill>
                  <a:srgbClr val="F2F2F2"/>
                </a:solidFill>
                <a:latin typeface="Urbanist"/>
                <a:ea typeface="Urbanist"/>
                <a:cs typeface="Urbanist"/>
                <a:sym typeface="Urbanist"/>
              </a:rPr>
              <a:t>RAG</a:t>
            </a:r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lang="en-US" sz="2800" b="1" dirty="0">
              <a:solidFill>
                <a:srgbClr val="FFC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" name="Google Shape;127;p15">
            <a:extLst>
              <a:ext uri="{FF2B5EF4-FFF2-40B4-BE49-F238E27FC236}">
                <a16:creationId xmlns:a16="http://schemas.microsoft.com/office/drawing/2014/main" id="{76B6290D-2C74-EA20-AFA5-B88BEEDF5349}"/>
              </a:ext>
            </a:extLst>
          </p:cNvPr>
          <p:cNvSpPr/>
          <p:nvPr/>
        </p:nvSpPr>
        <p:spPr>
          <a:xfrm>
            <a:off x="362845" y="238941"/>
            <a:ext cx="57150" cy="50482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88;p13">
            <a:extLst>
              <a:ext uri="{FF2B5EF4-FFF2-40B4-BE49-F238E27FC236}">
                <a16:creationId xmlns:a16="http://schemas.microsoft.com/office/drawing/2014/main" id="{6999A22B-B402-11BB-6AEA-3D6C0E9D9E5E}"/>
              </a:ext>
            </a:extLst>
          </p:cNvPr>
          <p:cNvSpPr txBox="1"/>
          <p:nvPr/>
        </p:nvSpPr>
        <p:spPr>
          <a:xfrm>
            <a:off x="473245" y="1987276"/>
            <a:ext cx="5622755" cy="304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800" dirty="0">
                <a:solidFill>
                  <a:srgbClr val="F2F2F2"/>
                </a:solidFill>
              </a:rPr>
              <a:t>Providing the model with external data to ensure       </a:t>
            </a:r>
          </a:p>
          <a:p>
            <a:r>
              <a:rPr lang="en-US" sz="1800" dirty="0">
                <a:solidFill>
                  <a:srgbClr val="F2F2F2"/>
                </a:solidFill>
              </a:rPr>
              <a:t>factual accuracy.</a:t>
            </a:r>
          </a:p>
          <a:p>
            <a:endParaRPr lang="en-US" sz="1800" dirty="0">
              <a:solidFill>
                <a:srgbClr val="FFC000"/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</a:rPr>
              <a:t>Context Injection:</a:t>
            </a:r>
            <a:r>
              <a:rPr lang="en-US" sz="1800" dirty="0">
                <a:solidFill>
                  <a:srgbClr val="FFC000"/>
                </a:solidFill>
              </a:rPr>
              <a:t> </a:t>
            </a:r>
            <a:r>
              <a:rPr lang="en-US" sz="1800" dirty="0">
                <a:solidFill>
                  <a:srgbClr val="F2F2F2"/>
                </a:solidFill>
              </a:rPr>
              <a:t>Supplies relevant regulatory text for every query.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nn-NO" sz="1800" dirty="0">
              <a:solidFill>
                <a:srgbClr val="FFC000"/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</a:rPr>
              <a:t>Evidence-Based:</a:t>
            </a:r>
            <a:r>
              <a:rPr lang="en-US" sz="1800" dirty="0">
                <a:solidFill>
                  <a:srgbClr val="FFC000"/>
                </a:solidFill>
              </a:rPr>
              <a:t> </a:t>
            </a:r>
            <a:r>
              <a:rPr lang="en-US" sz="1800" dirty="0">
                <a:solidFill>
                  <a:srgbClr val="F2F2F2"/>
                </a:solidFill>
              </a:rPr>
              <a:t>Grounds all answers in </a:t>
            </a:r>
            <a:r>
              <a:rPr lang="en-US" sz="1800" b="1" dirty="0">
                <a:solidFill>
                  <a:srgbClr val="F2F2F2"/>
                </a:solidFill>
              </a:rPr>
              <a:t>official sources</a:t>
            </a:r>
            <a:r>
              <a:rPr lang="en-US" sz="1800" dirty="0">
                <a:solidFill>
                  <a:srgbClr val="F2F2F2"/>
                </a:solidFill>
              </a:rPr>
              <a:t> (B.O.I) to eliminate hallucinations.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en-US" sz="1800" dirty="0">
              <a:solidFill>
                <a:srgbClr val="FFC000"/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</a:rPr>
              <a:t>Dynamic Knowledge: </a:t>
            </a:r>
            <a:r>
              <a:rPr lang="en-US" sz="1800" dirty="0">
                <a:solidFill>
                  <a:srgbClr val="F2F2F2"/>
                </a:solidFill>
              </a:rPr>
              <a:t>Accesses the latest documents without the need for retraining.</a:t>
            </a:r>
          </a:p>
        </p:txBody>
      </p:sp>
      <p:sp>
        <p:nvSpPr>
          <p:cNvPr id="15" name="Google Shape;127;p15">
            <a:extLst>
              <a:ext uri="{FF2B5EF4-FFF2-40B4-BE49-F238E27FC236}">
                <a16:creationId xmlns:a16="http://schemas.microsoft.com/office/drawing/2014/main" id="{A0AC6841-0F81-F4E6-A25B-684A34C6F1B7}"/>
              </a:ext>
            </a:extLst>
          </p:cNvPr>
          <p:cNvSpPr/>
          <p:nvPr/>
        </p:nvSpPr>
        <p:spPr>
          <a:xfrm flipH="1">
            <a:off x="6179642" y="1871427"/>
            <a:ext cx="45719" cy="327370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88;p13">
            <a:extLst>
              <a:ext uri="{FF2B5EF4-FFF2-40B4-BE49-F238E27FC236}">
                <a16:creationId xmlns:a16="http://schemas.microsoft.com/office/drawing/2014/main" id="{2FCD1781-38C1-A6EC-216F-40017A062752}"/>
              </a:ext>
            </a:extLst>
          </p:cNvPr>
          <p:cNvSpPr txBox="1"/>
          <p:nvPr/>
        </p:nvSpPr>
        <p:spPr>
          <a:xfrm>
            <a:off x="6438675" y="1693456"/>
            <a:ext cx="5622755" cy="2769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endParaRPr lang="en-US" sz="1800" dirty="0">
              <a:solidFill>
                <a:srgbClr val="FFC000"/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</a:rPr>
              <a:t>Vector Database:</a:t>
            </a:r>
            <a:r>
              <a:rPr lang="en-US" sz="1800" dirty="0">
                <a:solidFill>
                  <a:srgbClr val="FFC000"/>
                </a:solidFill>
              </a:rPr>
              <a:t> </a:t>
            </a:r>
            <a:r>
              <a:rPr lang="en-US" sz="1800" dirty="0">
                <a:solidFill>
                  <a:srgbClr val="F2F2F2"/>
                </a:solidFill>
              </a:rPr>
              <a:t>Engineered a vector database using </a:t>
            </a:r>
            <a:r>
              <a:rPr lang="en-US" sz="1800" b="1" dirty="0">
                <a:solidFill>
                  <a:srgbClr val="F2F2F2"/>
                </a:solidFill>
              </a:rPr>
              <a:t>ChromaDB</a:t>
            </a:r>
            <a:r>
              <a:rPr lang="en-US" sz="1800" dirty="0">
                <a:solidFill>
                  <a:srgbClr val="F2F2F2"/>
                </a:solidFill>
              </a:rPr>
              <a:t>, consisting of </a:t>
            </a:r>
            <a:r>
              <a:rPr lang="en-US" sz="1800" b="1" dirty="0">
                <a:solidFill>
                  <a:srgbClr val="F2F2F2"/>
                </a:solidFill>
              </a:rPr>
              <a:t>518 text chunks</a:t>
            </a:r>
            <a:r>
              <a:rPr lang="en-US" sz="1800" dirty="0">
                <a:solidFill>
                  <a:srgbClr val="F2F2F2"/>
                </a:solidFill>
              </a:rPr>
              <a:t> extracted from official regulations.</a:t>
            </a: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endParaRPr lang="en-US" sz="1800" dirty="0">
              <a:solidFill>
                <a:srgbClr val="F2F2F2"/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</a:rPr>
              <a:t>Dual-Encoder Strategy:</a:t>
            </a:r>
            <a:r>
              <a:rPr lang="en-US" sz="1800" dirty="0">
                <a:solidFill>
                  <a:srgbClr val="FFC000"/>
                </a:solidFill>
              </a:rPr>
              <a:t> </a:t>
            </a:r>
            <a:r>
              <a:rPr lang="en-US" sz="1800" dirty="0">
                <a:solidFill>
                  <a:srgbClr val="F2F2F2"/>
                </a:solidFill>
              </a:rPr>
              <a:t>Compared </a:t>
            </a:r>
            <a:r>
              <a:rPr lang="en-US" sz="1800" b="1" dirty="0">
                <a:solidFill>
                  <a:srgbClr val="F2F2F2"/>
                </a:solidFill>
              </a:rPr>
              <a:t>all-MiniLM</a:t>
            </a:r>
            <a:r>
              <a:rPr lang="en-US" sz="1800" dirty="0">
                <a:solidFill>
                  <a:srgbClr val="F2F2F2"/>
                </a:solidFill>
              </a:rPr>
              <a:t> and </a:t>
            </a:r>
            <a:r>
              <a:rPr lang="en-US" sz="1800" b="1" dirty="0">
                <a:solidFill>
                  <a:srgbClr val="F2F2F2"/>
                </a:solidFill>
              </a:rPr>
              <a:t>LegalBERT</a:t>
            </a:r>
            <a:r>
              <a:rPr lang="en-US" sz="1800" dirty="0">
                <a:solidFill>
                  <a:srgbClr val="F2F2F2"/>
                </a:solidFill>
              </a:rPr>
              <a:t> to determine the most effective embedding model for banking and legal terminology.</a:t>
            </a:r>
          </a:p>
          <a:p>
            <a:pPr>
              <a:buClr>
                <a:srgbClr val="FFC000"/>
              </a:buClr>
            </a:pPr>
            <a:endParaRPr lang="nn-NO" sz="1800" dirty="0">
              <a:solidFill>
                <a:srgbClr val="F2F2F2"/>
              </a:solidFill>
            </a:endParaRPr>
          </a:p>
          <a:p>
            <a:pPr marL="285750" indent="-285750"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FFC000"/>
                </a:solidFill>
              </a:rPr>
              <a:t>Retrieval Evaluation:</a:t>
            </a:r>
            <a:r>
              <a:rPr lang="en-US" sz="1800" dirty="0">
                <a:solidFill>
                  <a:srgbClr val="FFC000"/>
                </a:solidFill>
              </a:rPr>
              <a:t> </a:t>
            </a:r>
            <a:r>
              <a:rPr lang="en-US" sz="1800" dirty="0">
                <a:solidFill>
                  <a:srgbClr val="F2F2F2"/>
                </a:solidFill>
              </a:rPr>
              <a:t>Measured </a:t>
            </a:r>
            <a:r>
              <a:rPr lang="en-US" sz="1800" b="1" dirty="0" err="1">
                <a:solidFill>
                  <a:schemeClr val="bg1">
                    <a:lumMod val="95000"/>
                  </a:schemeClr>
                </a:solidFill>
              </a:rPr>
              <a:t>Hit@K</a:t>
            </a:r>
            <a:r>
              <a:rPr lang="en-US" sz="1800" b="1" dirty="0">
                <a:solidFill>
                  <a:srgbClr val="F2F2F2"/>
                </a:solidFill>
              </a:rPr>
              <a:t> (HitRate)</a:t>
            </a:r>
            <a:endParaRPr lang="en-US" sz="1800" dirty="0">
              <a:solidFill>
                <a:srgbClr val="F2F2F2"/>
              </a:solidFill>
            </a:endParaRPr>
          </a:p>
        </p:txBody>
      </p:sp>
      <p:pic>
        <p:nvPicPr>
          <p:cNvPr id="23" name="תמונה 22" descr="תמונה שמכילה טקסט, צילום מסך, גופן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708055D3-AF93-5B9E-2AE5-A2144CB443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297" y="4544068"/>
            <a:ext cx="3802401" cy="1736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90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2E8A46CF-A672-E505-2376-275AABB5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123;p15" descr="image.png">
            <a:extLst>
              <a:ext uri="{FF2B5EF4-FFF2-40B4-BE49-F238E27FC236}">
                <a16:creationId xmlns:a16="http://schemas.microsoft.com/office/drawing/2014/main" id="{896705B1-AC28-F9CF-A026-B8B4037CBE7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>
            <a:extLst>
              <a:ext uri="{FF2B5EF4-FFF2-40B4-BE49-F238E27FC236}">
                <a16:creationId xmlns:a16="http://schemas.microsoft.com/office/drawing/2014/main" id="{B90EBA20-4154-AB19-43FD-7AC4F4EC3E4B}"/>
              </a:ext>
            </a:extLst>
          </p:cNvPr>
          <p:cNvSpPr txBox="1"/>
          <p:nvPr/>
        </p:nvSpPr>
        <p:spPr>
          <a:xfrm>
            <a:off x="698681" y="535612"/>
            <a:ext cx="1966162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F9FAFB"/>
                </a:solidFill>
                <a:latin typeface="Urbanist"/>
                <a:ea typeface="Urbanist"/>
                <a:cs typeface="Urbanist"/>
                <a:sym typeface="Urbanist"/>
              </a:rPr>
              <a:t>RESULTS </a:t>
            </a:r>
          </a:p>
        </p:txBody>
      </p:sp>
      <p:sp>
        <p:nvSpPr>
          <p:cNvPr id="2" name="Google Shape;127;p15">
            <a:extLst>
              <a:ext uri="{FF2B5EF4-FFF2-40B4-BE49-F238E27FC236}">
                <a16:creationId xmlns:a16="http://schemas.microsoft.com/office/drawing/2014/main" id="{BD1103EA-58B3-BD26-8142-5AB3E21742AE}"/>
              </a:ext>
            </a:extLst>
          </p:cNvPr>
          <p:cNvSpPr/>
          <p:nvPr/>
        </p:nvSpPr>
        <p:spPr>
          <a:xfrm>
            <a:off x="571500" y="535612"/>
            <a:ext cx="57150" cy="50482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716212-072A-8CCC-4D7D-67649E7E2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81" y="1676817"/>
            <a:ext cx="5553763" cy="3321486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0224DC-FEAE-7B9A-3117-702A1C2561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3195" y="336948"/>
            <a:ext cx="4814460" cy="3000612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504B60-E309-1D67-ED79-AA7464F73F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3195" y="3342279"/>
            <a:ext cx="4814460" cy="2961807"/>
          </a:xfrm>
          <a:prstGeom prst="rect">
            <a:avLst/>
          </a:prstGeom>
          <a:effectLst>
            <a:softEdge rad="50800"/>
          </a:effectLst>
        </p:spPr>
      </p:pic>
    </p:spTree>
    <p:extLst>
      <p:ext uri="{BB962C8B-B14F-4D97-AF65-F5344CB8AC3E}">
        <p14:creationId xmlns:p14="http://schemas.microsoft.com/office/powerpoint/2010/main" val="305174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>
          <a:extLst>
            <a:ext uri="{FF2B5EF4-FFF2-40B4-BE49-F238E27FC236}">
              <a16:creationId xmlns:a16="http://schemas.microsoft.com/office/drawing/2014/main" id="{22E84E0D-5883-201E-F623-319B3EE0E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5" descr="image.png">
            <a:extLst>
              <a:ext uri="{FF2B5EF4-FFF2-40B4-BE49-F238E27FC236}">
                <a16:creationId xmlns:a16="http://schemas.microsoft.com/office/drawing/2014/main" id="{86D09913-DD2F-0AB0-1D0D-4D2A0961F1B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86;p13">
            <a:extLst>
              <a:ext uri="{FF2B5EF4-FFF2-40B4-BE49-F238E27FC236}">
                <a16:creationId xmlns:a16="http://schemas.microsoft.com/office/drawing/2014/main" id="{A5BAD159-A290-DF82-EEA3-3C3C65E87330}"/>
              </a:ext>
            </a:extLst>
          </p:cNvPr>
          <p:cNvSpPr txBox="1"/>
          <p:nvPr/>
        </p:nvSpPr>
        <p:spPr>
          <a:xfrm>
            <a:off x="474411" y="245556"/>
            <a:ext cx="2925823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300" b="1" dirty="0">
                <a:solidFill>
                  <a:schemeClr val="bg1"/>
                </a:solidFill>
              </a:rPr>
              <a:t>CONCLUSION</a:t>
            </a:r>
            <a:endParaRPr lang="en-US" sz="3300" b="1" i="0" u="none" strike="noStrike" cap="none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02E29998-45C5-4E1E-453F-38C00F17E41B}"/>
              </a:ext>
            </a:extLst>
          </p:cNvPr>
          <p:cNvSpPr txBox="1"/>
          <p:nvPr/>
        </p:nvSpPr>
        <p:spPr>
          <a:xfrm>
            <a:off x="518186" y="2819997"/>
            <a:ext cx="839064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800" b="1" dirty="0">
                <a:solidFill>
                  <a:srgbClr val="FFC000"/>
                </a:solidFill>
              </a:rPr>
              <a:t>Things We (Painfully) Learned:</a:t>
            </a:r>
            <a:endParaRPr lang="en-US" sz="2800" b="1" dirty="0">
              <a:solidFill>
                <a:srgbClr val="FFC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" name="Google Shape;127;p15">
            <a:extLst>
              <a:ext uri="{FF2B5EF4-FFF2-40B4-BE49-F238E27FC236}">
                <a16:creationId xmlns:a16="http://schemas.microsoft.com/office/drawing/2014/main" id="{7DE61AA3-BDFB-53E7-8AEE-E924F9E2A63B}"/>
              </a:ext>
            </a:extLst>
          </p:cNvPr>
          <p:cNvSpPr/>
          <p:nvPr/>
        </p:nvSpPr>
        <p:spPr>
          <a:xfrm>
            <a:off x="362845" y="238941"/>
            <a:ext cx="57150" cy="50482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88;p13">
            <a:extLst>
              <a:ext uri="{FF2B5EF4-FFF2-40B4-BE49-F238E27FC236}">
                <a16:creationId xmlns:a16="http://schemas.microsoft.com/office/drawing/2014/main" id="{7C2C1466-1FB2-0FE8-5D35-72ED36D33363}"/>
              </a:ext>
            </a:extLst>
          </p:cNvPr>
          <p:cNvSpPr txBox="1"/>
          <p:nvPr/>
        </p:nvSpPr>
        <p:spPr>
          <a:xfrm>
            <a:off x="518186" y="1402671"/>
            <a:ext cx="10290836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Minor hallucinations are still present.</a:t>
            </a:r>
            <a:endParaRPr lang="nn-NO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The model identifies the correct chunk in most cases, but consistency is not guaranteed.</a:t>
            </a:r>
          </a:p>
          <a:p>
            <a:pPr marL="285750" indent="-285750"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In a high-stakes domain like this, even small errors are unacceptable.</a:t>
            </a:r>
          </a:p>
        </p:txBody>
      </p:sp>
      <p:sp>
        <p:nvSpPr>
          <p:cNvPr id="2" name="Google Shape;88;p13">
            <a:extLst>
              <a:ext uri="{FF2B5EF4-FFF2-40B4-BE49-F238E27FC236}">
                <a16:creationId xmlns:a16="http://schemas.microsoft.com/office/drawing/2014/main" id="{68F5B512-688F-EB69-6D20-66CF92AF704D}"/>
              </a:ext>
            </a:extLst>
          </p:cNvPr>
          <p:cNvSpPr txBox="1"/>
          <p:nvPr/>
        </p:nvSpPr>
        <p:spPr>
          <a:xfrm>
            <a:off x="518186" y="998943"/>
            <a:ext cx="839064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800" b="1" dirty="0">
                <a:solidFill>
                  <a:srgbClr val="FFC000"/>
                </a:solidFill>
              </a:rPr>
              <a:t>Looks Good… But Can Be Better:</a:t>
            </a:r>
            <a:endParaRPr lang="en-US" sz="2800" b="1" dirty="0">
              <a:solidFill>
                <a:srgbClr val="FFC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" name="Google Shape;88;p13">
            <a:extLst>
              <a:ext uri="{FF2B5EF4-FFF2-40B4-BE49-F238E27FC236}">
                <a16:creationId xmlns:a16="http://schemas.microsoft.com/office/drawing/2014/main" id="{7A731623-AF71-D9C4-3F4F-D36B48E9C774}"/>
              </a:ext>
            </a:extLst>
          </p:cNvPr>
          <p:cNvSpPr txBox="1"/>
          <p:nvPr/>
        </p:nvSpPr>
        <p:spPr>
          <a:xfrm>
            <a:off x="518186" y="3256052"/>
            <a:ext cx="10290836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Each model comes with its own pros and cons.</a:t>
            </a:r>
            <a:endParaRPr lang="nn-NO" sz="1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Hallucination handling needs to be significantly stricter.</a:t>
            </a:r>
          </a:p>
          <a:p>
            <a:pPr marL="285750" indent="-285750"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A diverse set of KPIs is needed to properly evaluate model quality.</a:t>
            </a:r>
          </a:p>
        </p:txBody>
      </p:sp>
      <p:sp>
        <p:nvSpPr>
          <p:cNvPr id="5" name="Google Shape;88;p13">
            <a:extLst>
              <a:ext uri="{FF2B5EF4-FFF2-40B4-BE49-F238E27FC236}">
                <a16:creationId xmlns:a16="http://schemas.microsoft.com/office/drawing/2014/main" id="{EE9F0940-BEB7-7F69-4337-5B01468429BD}"/>
              </a:ext>
            </a:extLst>
          </p:cNvPr>
          <p:cNvSpPr txBox="1"/>
          <p:nvPr/>
        </p:nvSpPr>
        <p:spPr>
          <a:xfrm>
            <a:off x="518186" y="4673378"/>
            <a:ext cx="839064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800" b="1" dirty="0">
                <a:solidFill>
                  <a:srgbClr val="FFC000"/>
                </a:solidFill>
              </a:rPr>
              <a:t>Where Do We Go From Here?</a:t>
            </a:r>
            <a:endParaRPr lang="en-US" sz="2800" b="1" dirty="0">
              <a:solidFill>
                <a:srgbClr val="FFC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" name="Google Shape;88;p13">
            <a:extLst>
              <a:ext uri="{FF2B5EF4-FFF2-40B4-BE49-F238E27FC236}">
                <a16:creationId xmlns:a16="http://schemas.microsoft.com/office/drawing/2014/main" id="{F7AA6849-9885-F48C-208C-4D449D98E7BA}"/>
              </a:ext>
            </a:extLst>
          </p:cNvPr>
          <p:cNvSpPr txBox="1"/>
          <p:nvPr/>
        </p:nvSpPr>
        <p:spPr>
          <a:xfrm>
            <a:off x="518186" y="5104265"/>
            <a:ext cx="10290836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Experiment with additional models and architectures. </a:t>
            </a:r>
          </a:p>
          <a:p>
            <a:pPr marL="285750" indent="-285750"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Introduce more rigorous validation and consistency checks in the RAG pipeline.</a:t>
            </a:r>
          </a:p>
          <a:p>
            <a:pPr marL="285750" indent="-285750"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</a:rPr>
              <a:t>Add a faithfulness metric using an LLM judge to verify citation-explanation alignment. </a:t>
            </a:r>
          </a:p>
        </p:txBody>
      </p:sp>
    </p:spTree>
    <p:extLst>
      <p:ext uri="{BB962C8B-B14F-4D97-AF65-F5344CB8AC3E}">
        <p14:creationId xmlns:p14="http://schemas.microsoft.com/office/powerpoint/2010/main" val="2600582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</TotalTime>
  <Words>604</Words>
  <Application>Microsoft Office PowerPoint</Application>
  <PresentationFormat>Widescreen</PresentationFormat>
  <Paragraphs>98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Wingdings</vt:lpstr>
      <vt:lpstr>Inter</vt:lpstr>
      <vt:lpstr>Urbanist</vt:lpstr>
      <vt:lpstr>Inter SemiBold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Michael Naftalishen</cp:lastModifiedBy>
  <cp:revision>61</cp:revision>
  <dcterms:modified xsi:type="dcterms:W3CDTF">2026-01-19T02:11:27Z</dcterms:modified>
</cp:coreProperties>
</file>